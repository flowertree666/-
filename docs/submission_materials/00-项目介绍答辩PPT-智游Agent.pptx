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daaec65add4e95" /><Relationship Type="http://schemas.openxmlformats.org/officeDocument/2006/relationships/extended-properties" Target="/docProps/app.xml" Id="R2f1d63bf8e8e4794" /><Relationship Type="http://schemas.openxmlformats.org/officeDocument/2006/relationships/officeDocument" Target="/ppt/presentation.xml" Id="R7f96c4de5c8d45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a2fade38354e15"/>
  </p:sldMasterIdLst>
  <p:notesMasterIdLst>
    <p:notesMasterId xmlns:r="http://schemas.openxmlformats.org/officeDocument/2006/relationships" r:id="Rd2c28dbfca544f8c"/>
  </p:notesMasterIdLst>
  <p:sldIdLst>
    <p:sldId xmlns:r="http://schemas.openxmlformats.org/officeDocument/2006/relationships" id="256" r:id="R6d06a59b8e294428"/>
    <p:sldId xmlns:r="http://schemas.openxmlformats.org/officeDocument/2006/relationships" id="257" r:id="R45bf7efb047e4cde"/>
    <p:sldId xmlns:r="http://schemas.openxmlformats.org/officeDocument/2006/relationships" id="258" r:id="R0f3d7b5c6110425d"/>
    <p:sldId xmlns:r="http://schemas.openxmlformats.org/officeDocument/2006/relationships" id="259" r:id="Rb251dd60441a42f0"/>
    <p:sldId xmlns:r="http://schemas.openxmlformats.org/officeDocument/2006/relationships" id="260" r:id="R294caf32c0e74c39"/>
    <p:sldId xmlns:r="http://schemas.openxmlformats.org/officeDocument/2006/relationships" id="261" r:id="R8e18656a386744ed"/>
    <p:sldId xmlns:r="http://schemas.openxmlformats.org/officeDocument/2006/relationships" id="262" r:id="Rbef029220c0c4788"/>
    <p:sldId xmlns:r="http://schemas.openxmlformats.org/officeDocument/2006/relationships" id="263" r:id="R5fd09ca5a1fb4068"/>
    <p:sldId xmlns:r="http://schemas.openxmlformats.org/officeDocument/2006/relationships" id="264" r:id="Ra53dea54b15b4e66"/>
    <p:sldId xmlns:r="http://schemas.openxmlformats.org/officeDocument/2006/relationships" id="265" r:id="R4f01194a42134f4a"/>
    <p:sldId xmlns:r="http://schemas.openxmlformats.org/officeDocument/2006/relationships" id="266" r:id="R97300bb2aa304d1d"/>
    <p:sldId xmlns:r="http://schemas.openxmlformats.org/officeDocument/2006/relationships" id="267" r:id="Rb3b602d42c254a11"/>
    <p:sldId xmlns:r="http://schemas.openxmlformats.org/officeDocument/2006/relationships" id="268" r:id="Rfb681f3628504a34"/>
    <p:sldId xmlns:r="http://schemas.openxmlformats.org/officeDocument/2006/relationships" id="269" r:id="R4f07120447ab4339"/>
    <p:sldId xmlns:r="http://schemas.openxmlformats.org/officeDocument/2006/relationships" id="270" r:id="Ra539e953a265442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03ed53d4db4682" /><Relationship Type="http://schemas.openxmlformats.org/officeDocument/2006/relationships/slideMaster" Target="/ppt/slideMasters/slideMaster1.xml" Id="R9ea2fade38354e15" /><Relationship Type="http://schemas.openxmlformats.org/officeDocument/2006/relationships/notesMaster" Target="/ppt/notesMasters/notesMaster1.xml" Id="Rd2c28dbfca544f8c" /><Relationship Type="http://schemas.openxmlformats.org/officeDocument/2006/relationships/presProps" Target="/ppt/presProps.xml" Id="R8a6ac772c79b428a" /><Relationship Type="http://schemas.openxmlformats.org/officeDocument/2006/relationships/tableStyles" Target="/ppt/tableStyles.xml" Id="R23e4c5aa4d024bfa" /><Relationship Type="http://schemas.openxmlformats.org/officeDocument/2006/relationships/slide" Target="/ppt/slides/slide1.xml" Id="R6d06a59b8e294428" /><Relationship Type="http://schemas.openxmlformats.org/officeDocument/2006/relationships/slide" Target="/ppt/slides/slide2.xml" Id="R45bf7efb047e4cde" /><Relationship Type="http://schemas.openxmlformats.org/officeDocument/2006/relationships/slide" Target="/ppt/slides/slide3.xml" Id="R0f3d7b5c6110425d" /><Relationship Type="http://schemas.openxmlformats.org/officeDocument/2006/relationships/slide" Target="/ppt/slides/slide4.xml" Id="Rb251dd60441a42f0" /><Relationship Type="http://schemas.openxmlformats.org/officeDocument/2006/relationships/slide" Target="/ppt/slides/slide5.xml" Id="R294caf32c0e74c39" /><Relationship Type="http://schemas.openxmlformats.org/officeDocument/2006/relationships/slide" Target="/ppt/slides/slide6.xml" Id="R8e18656a386744ed" /><Relationship Type="http://schemas.openxmlformats.org/officeDocument/2006/relationships/slide" Target="/ppt/slides/slide7.xml" Id="Rbef029220c0c4788" /><Relationship Type="http://schemas.openxmlformats.org/officeDocument/2006/relationships/slide" Target="/ppt/slides/slide8.xml" Id="R5fd09ca5a1fb4068" /><Relationship Type="http://schemas.openxmlformats.org/officeDocument/2006/relationships/slide" Target="/ppt/slides/slide9.xml" Id="Ra53dea54b15b4e66" /><Relationship Type="http://schemas.openxmlformats.org/officeDocument/2006/relationships/slide" Target="/ppt/slides/slide10.xml" Id="R4f01194a42134f4a" /><Relationship Type="http://schemas.openxmlformats.org/officeDocument/2006/relationships/slide" Target="/ppt/slides/slide11.xml" Id="R97300bb2aa304d1d" /><Relationship Type="http://schemas.openxmlformats.org/officeDocument/2006/relationships/slide" Target="/ppt/slides/slide12.xml" Id="Rb3b602d42c254a11" /><Relationship Type="http://schemas.openxmlformats.org/officeDocument/2006/relationships/slide" Target="/ppt/slides/slide13.xml" Id="Rfb681f3628504a34" /><Relationship Type="http://schemas.openxmlformats.org/officeDocument/2006/relationships/slide" Target="/ppt/slides/slide14.xml" Id="R4f07120447ab4339" /><Relationship Type="http://schemas.openxmlformats.org/officeDocument/2006/relationships/slide" Target="/ppt/slides/slide15.xml" Id="Ra539e953a26544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42a3efff8948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2b7ada356d4c99" /><Relationship Type="http://schemas.openxmlformats.org/officeDocument/2006/relationships/notesMaster" Target="/ppt/notesMasters/notesMaster1.xml" Id="R0049efc9de2245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d575bac9d84394" /><Relationship Type="http://schemas.openxmlformats.org/officeDocument/2006/relationships/notesMaster" Target="/ppt/notesMasters/notesMaster1.xml" Id="R374b002e619541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3a6c1f8f304bba" /><Relationship Type="http://schemas.openxmlformats.org/officeDocument/2006/relationships/notesMaster" Target="/ppt/notesMasters/notesMaster1.xml" Id="Rd42813771b054d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dfe22bd7f14003" /><Relationship Type="http://schemas.openxmlformats.org/officeDocument/2006/relationships/notesMaster" Target="/ppt/notesMasters/notesMaster1.xml" Id="R2846a4c1cd574e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49f870dfda47b2" /><Relationship Type="http://schemas.openxmlformats.org/officeDocument/2006/relationships/notesMaster" Target="/ppt/notesMasters/notesMaster1.xml" Id="Rb81fe1244b4f44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c7e0a1db6745d8" /><Relationship Type="http://schemas.openxmlformats.org/officeDocument/2006/relationships/notesMaster" Target="/ppt/notesMasters/notesMaster1.xml" Id="R344f17057a724c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3c09e154164531" /><Relationship Type="http://schemas.openxmlformats.org/officeDocument/2006/relationships/notesMaster" Target="/ppt/notesMasters/notesMaster1.xml" Id="R7f2d19b740c942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00975780474248" /><Relationship Type="http://schemas.openxmlformats.org/officeDocument/2006/relationships/notesMaster" Target="/ppt/notesMasters/notesMaster1.xml" Id="Rb9644d14083c4a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d32f9e1f5e43dd" /><Relationship Type="http://schemas.openxmlformats.org/officeDocument/2006/relationships/notesMaster" Target="/ppt/notesMasters/notesMaster1.xml" Id="R22e11920f6714a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ab7b9c1bac4e21" /><Relationship Type="http://schemas.openxmlformats.org/officeDocument/2006/relationships/notesMaster" Target="/ppt/notesMasters/notesMaster1.xml" Id="Ra39f308964874e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946e617e7f4d38" /><Relationship Type="http://schemas.openxmlformats.org/officeDocument/2006/relationships/notesMaster" Target="/ppt/notesMasters/notesMaster1.xml" Id="Rc2f11604c4b34f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fca6acf6554c12" /><Relationship Type="http://schemas.openxmlformats.org/officeDocument/2006/relationships/notesMaster" Target="/ppt/notesMasters/notesMaster1.xml" Id="R3cd7153c0ce04f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4a107b631564719" /><Relationship Type="http://schemas.openxmlformats.org/officeDocument/2006/relationships/notesMaster" Target="/ppt/notesMasters/notesMaster1.xml" Id="R715feba33702450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decef1d10914e33" /><Relationship Type="http://schemas.openxmlformats.org/officeDocument/2006/relationships/notesMaster" Target="/ppt/notesMasters/notesMaster1.xml" Id="R2f587a6d006549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0637aab323b4156" /><Relationship Type="http://schemas.openxmlformats.org/officeDocument/2006/relationships/notesMaster" Target="/ppt/notesMasters/notesMaster1.xml" Id="Re9c55eee820943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83b06f88a24a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962f9bd3534c1b" /><Relationship Type="http://schemas.openxmlformats.org/officeDocument/2006/relationships/slideLayout" Target="/ppt/slideLayouts/slideLayout1.xml" Id="R5b48e5a1ef8a40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48e5a1ef8a40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04cc670b64713" /><Relationship Type="http://schemas.openxmlformats.org/officeDocument/2006/relationships/notesSlide" Target="/ppt/notesSlides/notesSlide1.xml" Id="Rf7a977d78e474b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7ae4ded5147c1" /><Relationship Type="http://schemas.openxmlformats.org/officeDocument/2006/relationships/notesSlide" Target="/ppt/notesSlides/notesSlide2.xml" Id="R82f6a68a069241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e6a784f234ecf" /><Relationship Type="http://schemas.openxmlformats.org/officeDocument/2006/relationships/image" Target="/ppt/media/image.jpeg" Id="R766179685926423d" /><Relationship Type="http://schemas.openxmlformats.org/officeDocument/2006/relationships/notesSlide" Target="/ppt/notesSlides/notesSlide3.xml" Id="R2db15d6c56f04d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19675aa9542b1" /><Relationship Type="http://schemas.openxmlformats.org/officeDocument/2006/relationships/notesSlide" Target="/ppt/notesSlides/notesSlide4.xml" Id="R7a16096f4d7542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dae241bc24ead" /><Relationship Type="http://schemas.openxmlformats.org/officeDocument/2006/relationships/notesSlide" Target="/ppt/notesSlides/notesSlide5.xml" Id="R30ce5b7263164f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7b157d7b14abd" /><Relationship Type="http://schemas.openxmlformats.org/officeDocument/2006/relationships/image" Target="/ppt/media/image2.jpeg" Id="R858ea9d4acfc43c3" /><Relationship Type="http://schemas.openxmlformats.org/officeDocument/2006/relationships/notesSlide" Target="/ppt/notesSlides/notesSlide6.xml" Id="R665576bee6634d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aeecb192041ec" /><Relationship Type="http://schemas.openxmlformats.org/officeDocument/2006/relationships/notesSlide" Target="/ppt/notesSlides/notesSlide7.xml" Id="Ra2e31e2404874d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95becfc0b40e6" /><Relationship Type="http://schemas.openxmlformats.org/officeDocument/2006/relationships/image" Target="/ppt/media/image3.jpeg" Id="Rb642ee45b8894dbb" /><Relationship Type="http://schemas.openxmlformats.org/officeDocument/2006/relationships/notesSlide" Target="/ppt/notesSlides/notesSlide8.xml" Id="R058defa0346841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44150ada247d8" /><Relationship Type="http://schemas.openxmlformats.org/officeDocument/2006/relationships/image" Target="/ppt/media/image4.jpeg" Id="Ra30a7eb3e09e434f" /><Relationship Type="http://schemas.openxmlformats.org/officeDocument/2006/relationships/notesSlide" Target="/ppt/notesSlides/notesSlide9.xml" Id="Rc5f8a0d26df749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c8d3164b9476c" /><Relationship Type="http://schemas.openxmlformats.org/officeDocument/2006/relationships/image" Target="/ppt/media/image5.jpeg" Id="R86134d5a6eb54739" /><Relationship Type="http://schemas.openxmlformats.org/officeDocument/2006/relationships/notesSlide" Target="/ppt/notesSlides/notesSlide10.xml" Id="Ra713fcf7d41641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f8b5075b84189" /><Relationship Type="http://schemas.openxmlformats.org/officeDocument/2006/relationships/notesSlide" Target="/ppt/notesSlides/notesSlide11.xml" Id="Rd88ac546726841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7ae1ab6914cd8" /><Relationship Type="http://schemas.openxmlformats.org/officeDocument/2006/relationships/notesSlide" Target="/ppt/notesSlides/notesSlide12.xml" Id="Re227090aec78403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a70977c4c4415" /><Relationship Type="http://schemas.openxmlformats.org/officeDocument/2006/relationships/notesSlide" Target="/ppt/notesSlides/notesSlide13.xml" Id="Rb0eefb94125f45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e3d5c18de4a2c" /><Relationship Type="http://schemas.openxmlformats.org/officeDocument/2006/relationships/notesSlide" Target="/ppt/notesSlides/notesSlide14.xml" Id="R7b9e153e0145418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44a6f35db4bb0" /><Relationship Type="http://schemas.openxmlformats.org/officeDocument/2006/relationships/notesSlide" Target="/ppt/notesSlides/notesSlide15.xml" Id="R71992181184c45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">
            <a:extLst xmlns:a="http://schemas.openxmlformats.org/drawingml/2006/main">
              <a:ext uri="{FF2B5EF4-FFF2-40B4-BE49-F238E27FC236}">
                <a16:creationId xmlns:a16="http://schemas.microsoft.com/office/drawing/2014/main" id="{DF735559-4994-4FED-80CF-B8E54419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rPr>
              <a:t>COMPETITION DEFENSE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ABF56CC-8AF6-497B-8737-2279337C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942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智游 Agent</a:t>
            </a:r>
          </a:p>
        </p:txBody>
      </p:sp>
      <p:sp>
        <p:nvSpPr>
          <p:cNvPr id="3" name="cover-sub">
            <a:extLst xmlns:a="http://schemas.openxmlformats.org/drawingml/2006/main">
              <a:ext uri="{FF2B5EF4-FFF2-40B4-BE49-F238E27FC236}">
                <a16:creationId xmlns:a16="http://schemas.microsoft.com/office/drawing/2014/main" id="{7BC94C6B-2FD3-436D-B37C-270D60C2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rPr>
              <a:t>让旅行规划有依据、守约束、可执行</a:t>
            </a:r>
          </a:p>
        </p:txBody>
      </p:sp>
      <p:sp>
        <p:nvSpPr>
          <p:cNvPr id="4" name="cover-meta">
            <a:extLst xmlns:a="http://schemas.openxmlformats.org/drawingml/2006/main">
              <a:ext uri="{FF2B5EF4-FFF2-40B4-BE49-F238E27FC236}">
                <a16:creationId xmlns:a16="http://schemas.microsoft.com/office/drawing/2014/main" id="{DA415ED5-2155-43B4-BAD6-12D5468C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基于 RAG、DeepSeek 与高德地图的智能旅游助手</a:t>
            </a:r>
          </a:p>
        </p:txBody>
      </p:sp>
      <p:sp>
        <p:nvSpPr>
          <p:cNvPr id="5" name="cover-team">
            <a:extLst xmlns:a="http://schemas.openxmlformats.org/drawingml/2006/main">
              <a:ext uri="{FF2B5EF4-FFF2-40B4-BE49-F238E27FC236}">
                <a16:creationId xmlns:a16="http://schemas.microsoft.com/office/drawing/2014/main" id="{83A7FA3A-D499-4908-BAD4-0BFF8AE5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程鹏 · 马骁泽 · 柴正宇 · 梅佳俊 · 杨宇韬</a:t>
            </a:r>
          </a:p>
        </p:txBody>
      </p:sp>
      <p:sp>
        <p:nvSpPr>
          <p:cNvPr id="6" name="accent">
            <a:extLst xmlns:a="http://schemas.openxmlformats.org/drawingml/2006/main">
              <a:ext uri="{FF2B5EF4-FFF2-40B4-BE49-F238E27FC236}">
                <a16:creationId xmlns:a16="http://schemas.microsoft.com/office/drawing/2014/main" id="{EB3C437D-D58E-4FCD-B614-A91366E3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00050"/>
            <a:ext cx="1238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D3D"/>
          </a:solidFill>
          <a:ln xmlns:a="http://schemas.openxmlformats.org/drawingml/2006/main" w="9525">
            <a:solidFill>
              <a:srgbClr val="E47D3D"/>
            </a:solidFill>
            <a:prstDash val="solid"/>
          </a:ln>
        </p:spPr>
      </p:sp>
      <p:sp>
        <p:nvSpPr>
          <p:cNvPr id="7" name="cover-no">
            <a:extLst xmlns:a="http://schemas.openxmlformats.org/drawingml/2006/main">
              <a:ext uri="{FF2B5EF4-FFF2-40B4-BE49-F238E27FC236}">
                <a16:creationId xmlns:a16="http://schemas.microsoft.com/office/drawing/2014/main" id="{85A66A8B-E7A2-40DE-B170-646D6A35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434962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2">
            <a:extLst xmlns:a="http://schemas.openxmlformats.org/drawingml/2006/main">
              <a:ext uri="{FF2B5EF4-FFF2-40B4-BE49-F238E27FC236}">
                <a16:creationId xmlns:a16="http://schemas.microsoft.com/office/drawing/2014/main" id="{A84C6413-7709-48F6-B65D-7AAAE426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自由行真正难的不是找景点，而是把信息变成可执行路线</a:t>
            </a:r>
          </a:p>
        </p:txBody>
      </p:sp>
      <p:sp>
        <p:nvSpPr>
          <p:cNvPr id="2" name="no-2">
            <a:extLst xmlns:a="http://schemas.openxmlformats.org/drawingml/2006/main">
              <a:ext uri="{FF2B5EF4-FFF2-40B4-BE49-F238E27FC236}">
                <a16:creationId xmlns:a16="http://schemas.microsoft.com/office/drawing/2014/main" id="{F1ACB5AB-866F-4C6F-A960-902A59CB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5324A62E-20E2-4AB7-BD2E-B4D609B8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14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用户需要同时处理信息时效、空间距离、时间窗口、体力与预算；任何一项缺失，路线都可能“看起来合理、实际走不通”。</a:t>
            </a:r>
          </a:p>
        </p:txBody>
      </p:sp>
      <p:sp>
        <p:nvSpPr>
          <p:cNvPr id="4" name="problem-0">
            <a:extLst xmlns:a="http://schemas.openxmlformats.org/drawingml/2006/main">
              <a:ext uri="{FF2B5EF4-FFF2-40B4-BE49-F238E27FC236}">
                <a16:creationId xmlns:a16="http://schemas.microsoft.com/office/drawing/2014/main" id="{414EF439-97D7-49A7-B7D0-B341A1ED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35623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blem-head-0">
            <a:extLst xmlns:a="http://schemas.openxmlformats.org/drawingml/2006/main">
              <a:ext uri="{FF2B5EF4-FFF2-40B4-BE49-F238E27FC236}">
                <a16:creationId xmlns:a16="http://schemas.microsoft.com/office/drawing/2014/main" id="{4156E9C6-9D9A-432B-B816-47D92248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3028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信息分散</a:t>
            </a:r>
          </a:p>
        </p:txBody>
      </p:sp>
      <p:sp>
        <p:nvSpPr>
          <p:cNvPr id="6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63C069A8-4B3F-4D0F-9136-C038C00A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30289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官网、地图、攻略与票务平台反复切换，开放和预约规则难追溯。</a:t>
            </a:r>
          </a:p>
        </p:txBody>
      </p:sp>
      <p:sp>
        <p:nvSpPr>
          <p:cNvPr id="7" name="problem-1">
            <a:extLst xmlns:a="http://schemas.openxmlformats.org/drawingml/2006/main">
              <a:ext uri="{FF2B5EF4-FFF2-40B4-BE49-F238E27FC236}">
                <a16:creationId xmlns:a16="http://schemas.microsoft.com/office/drawing/2014/main" id="{69E8438A-C578-4E0C-9299-C303EEB4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52750"/>
            <a:ext cx="35623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blem-head-1">
            <a:extLst xmlns:a="http://schemas.openxmlformats.org/drawingml/2006/main">
              <a:ext uri="{FF2B5EF4-FFF2-40B4-BE49-F238E27FC236}">
                <a16:creationId xmlns:a16="http://schemas.microsoft.com/office/drawing/2014/main" id="{F3C2E14D-B245-4073-9C3A-6316E6EA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86125"/>
            <a:ext cx="3028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路线模板化</a:t>
            </a:r>
          </a:p>
        </p:txBody>
      </p:sp>
      <p:sp>
        <p:nvSpPr>
          <p:cNvPr id="9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943B91BE-43FE-4244-ADCE-463BC323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43350"/>
            <a:ext cx="30289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热门景点被机械拼接，跨区折返、体力过载和时间写死。</a:t>
            </a:r>
          </a:p>
        </p:txBody>
      </p:sp>
      <p:sp>
        <p:nvSpPr>
          <p:cNvPr id="10" name="problem-2">
            <a:extLst xmlns:a="http://schemas.openxmlformats.org/drawingml/2006/main">
              <a:ext uri="{FF2B5EF4-FFF2-40B4-BE49-F238E27FC236}">
                <a16:creationId xmlns:a16="http://schemas.microsoft.com/office/drawing/2014/main" id="{0CFA8CD9-A9A3-4436-A2D7-2286AF76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35623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blem-head-2">
            <a:extLst xmlns:a="http://schemas.openxmlformats.org/drawingml/2006/main">
              <a:ext uri="{FF2B5EF4-FFF2-40B4-BE49-F238E27FC236}">
                <a16:creationId xmlns:a16="http://schemas.microsoft.com/office/drawing/2014/main" id="{3F88CF5D-BEBF-457F-8C75-AC721DA9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86125"/>
            <a:ext cx="3028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47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47D3D"/>
                </a:solidFill>
                <a:latin typeface="Microsoft YaHei"/>
                <a:ea typeface="Microsoft YaHei"/>
                <a:cs typeface="Microsoft YaHei"/>
              </a:rPr>
              <a:t>个性化失真</a:t>
            </a:r>
          </a:p>
        </p:txBody>
      </p:sp>
      <p:sp>
        <p:nvSpPr>
          <p:cNvPr id="12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DBE65490-7A47-4EDD-ACF1-B9F5FD83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43350"/>
            <a:ext cx="30289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用户说“第一天去八达岭”，模型却只在建议中提到，没有真正安排。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06C7BD57-78B9-4977-A244-65F1D7A1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智游 Agent · 基于通用智能体的智能旅游助手</a:t>
            </a:r>
          </a:p>
        </p:txBody>
      </p:sp>
    </p:spTree>
    <p:extLst>
      <p:ext uri="{BB962C8B-B14F-4D97-AF65-F5344CB8AC3E}">
        <p14:creationId xmlns:p14="http://schemas.microsoft.com/office/powerpoint/2010/main" val="5337363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3">
            <a:extLst xmlns:a="http://schemas.openxmlformats.org/drawingml/2006/main">
              <a:ext uri="{FF2B5EF4-FFF2-40B4-BE49-F238E27FC236}">
                <a16:creationId xmlns:a16="http://schemas.microsoft.com/office/drawing/2014/main" id="{8809539E-A55B-44AC-A2C8-4722330F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一个输入入口，统一承接目的地、预算、偏好与特别期待</a:t>
            </a:r>
          </a:p>
        </p:txBody>
      </p:sp>
      <p:sp>
        <p:nvSpPr>
          <p:cNvPr id="2" name="no-3">
            <a:extLst xmlns:a="http://schemas.openxmlformats.org/drawingml/2006/main">
              <a:ext uri="{FF2B5EF4-FFF2-40B4-BE49-F238E27FC236}">
                <a16:creationId xmlns:a16="http://schemas.microsoft.com/office/drawing/2014/main" id="{91914B2F-9198-4C6C-B52A-3D52CCA4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input-big">
            <a:extLst xmlns:a="http://schemas.openxmlformats.org/drawingml/2006/main">
              <a:ext uri="{FF2B5EF4-FFF2-40B4-BE49-F238E27FC236}">
                <a16:creationId xmlns:a16="http://schemas.microsoft.com/office/drawing/2014/main" id="{0B92A2E7-897B-420B-968A-8E6E0FD0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714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用户只需要描述怎么旅行</a:t>
            </a:r>
          </a:p>
        </p:txBody>
      </p:sp>
      <p:sp>
        <p:nvSpPr>
          <p:cNvPr id="4" name="dot-330">
            <a:extLst xmlns:a="http://schemas.openxmlformats.org/drawingml/2006/main">
              <a:ext uri="{FF2B5EF4-FFF2-40B4-BE49-F238E27FC236}">
                <a16:creationId xmlns:a16="http://schemas.microsoft.com/office/drawing/2014/main" id="{238F761C-60C2-4CD9-99F3-0622BFA4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28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7D3D"/>
          </a:solidFill>
          <a:ln xmlns:a="http://schemas.openxmlformats.org/drawingml/2006/main" w="9525">
            <a:solidFill>
              <a:srgbClr val="E47D3D"/>
            </a:solidFill>
            <a:prstDash val="solid"/>
          </a:ln>
        </p:spPr>
      </p:sp>
      <p:sp>
        <p:nvSpPr>
          <p:cNvPr id="5" name="bullet-330">
            <a:extLst xmlns:a="http://schemas.openxmlformats.org/drawingml/2006/main">
              <a:ext uri="{FF2B5EF4-FFF2-40B4-BE49-F238E27FC236}">
                <a16:creationId xmlns:a16="http://schemas.microsoft.com/office/drawing/2014/main" id="{5B34553E-0228-4C70-8160-999EE2CE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4171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结构化条件：城市、天数、日期、预算、偏好</a:t>
            </a:r>
          </a:p>
        </p:txBody>
      </p:sp>
      <p:sp>
        <p:nvSpPr>
          <p:cNvPr id="6" name="dot-402">
            <a:extLst xmlns:a="http://schemas.openxmlformats.org/drawingml/2006/main">
              <a:ext uri="{FF2B5EF4-FFF2-40B4-BE49-F238E27FC236}">
                <a16:creationId xmlns:a16="http://schemas.microsoft.com/office/drawing/2014/main" id="{93305D92-105E-4986-ABD0-D7DF7037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147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7D3D"/>
          </a:solidFill>
          <a:ln xmlns:a="http://schemas.openxmlformats.org/drawingml/2006/main" w="9525">
            <a:solidFill>
              <a:srgbClr val="E47D3D"/>
            </a:solidFill>
            <a:prstDash val="solid"/>
          </a:ln>
        </p:spPr>
      </p:sp>
      <p:sp>
        <p:nvSpPr>
          <p:cNvPr id="7" name="bullet-402">
            <a:extLst xmlns:a="http://schemas.openxmlformats.org/drawingml/2006/main">
              <a:ext uri="{FF2B5EF4-FFF2-40B4-BE49-F238E27FC236}">
                <a16:creationId xmlns:a16="http://schemas.microsoft.com/office/drawing/2014/main" id="{13BCF359-1487-46E4-8B93-57330405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436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自然语言条件：指定景点、指定日期、老人儿童、日出与体力</a:t>
            </a:r>
          </a:p>
        </p:txBody>
      </p:sp>
      <p:sp>
        <p:nvSpPr>
          <p:cNvPr id="8" name="dot-500">
            <a:extLst xmlns:a="http://schemas.openxmlformats.org/drawingml/2006/main">
              <a:ext uri="{FF2B5EF4-FFF2-40B4-BE49-F238E27FC236}">
                <a16:creationId xmlns:a16="http://schemas.microsoft.com/office/drawing/2014/main" id="{9AA19D2B-3BA2-4365-882A-E089553A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48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7D3D"/>
          </a:solidFill>
          <a:ln xmlns:a="http://schemas.openxmlformats.org/drawingml/2006/main" w="9525">
            <a:solidFill>
              <a:srgbClr val="E47D3D"/>
            </a:solidFill>
            <a:prstDash val="solid"/>
          </a:ln>
        </p:spPr>
      </p:sp>
      <p:sp>
        <p:nvSpPr>
          <p:cNvPr id="9" name="bullet-500">
            <a:extLst xmlns:a="http://schemas.openxmlformats.org/drawingml/2006/main">
              <a:ext uri="{FF2B5EF4-FFF2-40B4-BE49-F238E27FC236}">
                <a16:creationId xmlns:a16="http://schemas.microsoft.com/office/drawing/2014/main" id="{98D130FE-7A17-439B-B4DD-8B27D70B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4171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无效目的地直接报错，不进入虚构规划</a:t>
            </a:r>
          </a:p>
        </p:txBody>
      </p:sp>
      <p:sp>
        <p:nvSpPr>
          <p:cNvPr id="10" name="input-ui-back">
            <a:extLst xmlns:a="http://schemas.openxmlformats.org/drawingml/2006/main">
              <a:ext uri="{FF2B5EF4-FFF2-40B4-BE49-F238E27FC236}">
                <a16:creationId xmlns:a16="http://schemas.microsoft.com/office/drawing/2014/main" id="{E9C36A3C-FB64-411E-A0CA-9F7B28EC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123950"/>
            <a:ext cx="6515100" cy="480060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8C1BC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179685926423d"/>
          <a:srcRect xmlns:a="http://schemas.openxmlformats.org/drawingml/2006/main" l="11726" t="0" r="117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1143000"/>
            <a:ext cx="6477000" cy="4762500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8BCD9423-0E98-4735-93D2-5493F22E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智游 Agent · 基于通用智能体的智能旅游助手</a:t>
            </a:r>
          </a:p>
        </p:txBody>
      </p:sp>
    </p:spTree>
    <p:extLst>
      <p:ext uri="{BB962C8B-B14F-4D97-AF65-F5344CB8AC3E}">
        <p14:creationId xmlns:p14="http://schemas.microsoft.com/office/powerpoint/2010/main" val="3863276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4">
            <a:extLst xmlns:a="http://schemas.openxmlformats.org/drawingml/2006/main">
              <a:ext uri="{FF2B5EF4-FFF2-40B4-BE49-F238E27FC236}">
                <a16:creationId xmlns:a16="http://schemas.microsoft.com/office/drawing/2014/main" id="{9746ECAB-8A1A-4A01-9595-B829DCEF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路线生成遵循“检索—约束—地图—表达”的可解释链路</a:t>
            </a:r>
          </a:p>
        </p:txBody>
      </p:sp>
      <p:sp>
        <p:nvSpPr>
          <p:cNvPr id="2" name="no-4">
            <a:extLst xmlns:a="http://schemas.openxmlformats.org/drawingml/2006/main">
              <a:ext uri="{FF2B5EF4-FFF2-40B4-BE49-F238E27FC236}">
                <a16:creationId xmlns:a16="http://schemas.microsoft.com/office/drawing/2014/main" id="{AFE5DCB0-4DEE-4406-90E1-01CE5185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4867E5A9-8765-4FEA-95D1-7D983C07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1BC"/>
          </a:solidFill>
          <a:ln xmlns:a="http://schemas.openxmlformats.org/drawingml/2006/main" w="9525">
            <a:solidFill>
              <a:srgbClr val="B8C1BC"/>
            </a:solidFill>
            <a:prstDash val="solid"/>
          </a:ln>
        </p:spPr>
      </p:sp>
      <p:sp>
        <p:nvSpPr>
          <p:cNvPr id="4" name="step-dot-0">
            <a:extLst xmlns:a="http://schemas.openxmlformats.org/drawingml/2006/main">
              <a:ext uri="{FF2B5EF4-FFF2-40B4-BE49-F238E27FC236}">
                <a16:creationId xmlns:a16="http://schemas.microsoft.com/office/drawing/2014/main" id="{5D8F8CF6-B51B-4E35-BCAA-B8A967CA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6F57"/>
          </a:solidFill>
          <a:ln xmlns:a="http://schemas.openxmlformats.org/drawingml/2006/main" w="9525">
            <a:solidFill>
              <a:srgbClr val="2F6F57"/>
            </a:solidFill>
            <a:prstDash val="solid"/>
          </a:ln>
        </p:spPr>
      </p:sp>
      <p:sp>
        <p:nvSpPr>
          <p:cNvPr id="5" name="step-no-0">
            <a:extLst xmlns:a="http://schemas.openxmlformats.org/drawingml/2006/main">
              <a:ext uri="{FF2B5EF4-FFF2-40B4-BE49-F238E27FC236}">
                <a16:creationId xmlns:a16="http://schemas.microsoft.com/office/drawing/2014/main" id="{38C20BA5-DA7F-4613-97A9-8255D6A8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step-head-0">
            <a:extLst xmlns:a="http://schemas.openxmlformats.org/drawingml/2006/main">
              <a:ext uri="{FF2B5EF4-FFF2-40B4-BE49-F238E27FC236}">
                <a16:creationId xmlns:a16="http://schemas.microsoft.com/office/drawing/2014/main" id="{7AC5DC0F-8EDA-4807-A72C-060AE612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知识检索</a:t>
            </a:r>
          </a:p>
        </p:txBody>
      </p:sp>
      <p:sp>
        <p:nvSpPr>
          <p:cNvPr id="7" name="step-body-0">
            <a:extLst xmlns:a="http://schemas.openxmlformats.org/drawingml/2006/main">
              <a:ext uri="{FF2B5EF4-FFF2-40B4-BE49-F238E27FC236}">
                <a16:creationId xmlns:a16="http://schemas.microsoft.com/office/drawing/2014/main" id="{58E59509-9D82-44A4-AE3E-0DB6D6E2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2266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按城市与日期检索 RAG，过滤过期或不可信片段。</a:t>
            </a:r>
          </a:p>
        </p:txBody>
      </p:sp>
      <p:sp>
        <p:nvSpPr>
          <p:cNvPr id="8" name="step-dot-1">
            <a:extLst xmlns:a="http://schemas.openxmlformats.org/drawingml/2006/main">
              <a:ext uri="{FF2B5EF4-FFF2-40B4-BE49-F238E27FC236}">
                <a16:creationId xmlns:a16="http://schemas.microsoft.com/office/drawing/2014/main" id="{121C1069-89DB-4216-B6F8-6D2754BA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43225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47D3D"/>
          </a:solidFill>
          <a:ln xmlns:a="http://schemas.openxmlformats.org/drawingml/2006/main" w="9525">
            <a:solidFill>
              <a:srgbClr val="E47D3D"/>
            </a:solidFill>
            <a:prstDash val="solid"/>
          </a:ln>
        </p:spPr>
      </p:sp>
      <p:sp>
        <p:nvSpPr>
          <p:cNvPr id="9" name="step-no-1">
            <a:extLst xmlns:a="http://schemas.openxmlformats.org/drawingml/2006/main">
              <a:ext uri="{FF2B5EF4-FFF2-40B4-BE49-F238E27FC236}">
                <a16:creationId xmlns:a16="http://schemas.microsoft.com/office/drawing/2014/main" id="{9535DA4A-12F3-48B9-953B-5F21B548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288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step-head-1">
            <a:extLst xmlns:a="http://schemas.openxmlformats.org/drawingml/2006/main">
              <a:ext uri="{FF2B5EF4-FFF2-40B4-BE49-F238E27FC236}">
                <a16:creationId xmlns:a16="http://schemas.microsoft.com/office/drawing/2014/main" id="{C372C1A0-7A21-4EF6-8135-45C7AFF4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766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硬约束规划</a:t>
            </a:r>
          </a:p>
        </p:txBody>
      </p:sp>
      <p:sp>
        <p:nvSpPr>
          <p:cNvPr id="11" name="step-body-1">
            <a:extLst xmlns:a="http://schemas.openxmlformats.org/drawingml/2006/main">
              <a:ext uri="{FF2B5EF4-FFF2-40B4-BE49-F238E27FC236}">
                <a16:creationId xmlns:a16="http://schemas.microsoft.com/office/drawing/2014/main" id="{BF3831B3-2EC7-4754-AC24-CA8D63C8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48125"/>
            <a:ext cx="2266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落实必去点、指定天数、时间、体力、距离与预算。</a:t>
            </a:r>
          </a:p>
        </p:txBody>
      </p:sp>
      <p:sp>
        <p:nvSpPr>
          <p:cNvPr id="12" name="step-dot-2">
            <a:extLst xmlns:a="http://schemas.openxmlformats.org/drawingml/2006/main">
              <a:ext uri="{FF2B5EF4-FFF2-40B4-BE49-F238E27FC236}">
                <a16:creationId xmlns:a16="http://schemas.microsoft.com/office/drawing/2014/main" id="{E4659972-1873-4868-95DB-513688AF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43225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6F57"/>
          </a:solidFill>
          <a:ln xmlns:a="http://schemas.openxmlformats.org/drawingml/2006/main" w="9525">
            <a:solidFill>
              <a:srgbClr val="2F6F57"/>
            </a:solidFill>
            <a:prstDash val="solid"/>
          </a:ln>
        </p:spPr>
      </p:sp>
      <p:sp>
        <p:nvSpPr>
          <p:cNvPr id="13" name="step-no-2">
            <a:extLst xmlns:a="http://schemas.openxmlformats.org/drawingml/2006/main">
              <a:ext uri="{FF2B5EF4-FFF2-40B4-BE49-F238E27FC236}">
                <a16:creationId xmlns:a16="http://schemas.microsoft.com/office/drawing/2014/main" id="{08B49B44-F8ED-493A-A276-9D2F458C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288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step-head-2">
            <a:extLst xmlns:a="http://schemas.openxmlformats.org/drawingml/2006/main">
              <a:ext uri="{FF2B5EF4-FFF2-40B4-BE49-F238E27FC236}">
                <a16:creationId xmlns:a16="http://schemas.microsoft.com/office/drawing/2014/main" id="{0B2380EF-67D5-40EC-861D-7D48D86D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地图补全</a:t>
            </a:r>
          </a:p>
        </p:txBody>
      </p:sp>
      <p:sp>
        <p:nvSpPr>
          <p:cNvPr id="15" name="step-body-2">
            <a:extLst xmlns:a="http://schemas.openxmlformats.org/drawingml/2006/main">
              <a:ext uri="{FF2B5EF4-FFF2-40B4-BE49-F238E27FC236}">
                <a16:creationId xmlns:a16="http://schemas.microsoft.com/office/drawing/2014/main" id="{82124495-0EFC-4B85-943A-CAB63FDB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2266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调用高德路线、餐饮、住宿和交通方式。</a:t>
            </a:r>
          </a:p>
        </p:txBody>
      </p:sp>
      <p:sp>
        <p:nvSpPr>
          <p:cNvPr id="16" name="step-dot-3">
            <a:extLst xmlns:a="http://schemas.openxmlformats.org/drawingml/2006/main">
              <a:ext uri="{FF2B5EF4-FFF2-40B4-BE49-F238E27FC236}">
                <a16:creationId xmlns:a16="http://schemas.microsoft.com/office/drawing/2014/main" id="{820B7FD5-8766-43D8-B4CC-397E863D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43225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6F57"/>
          </a:solidFill>
          <a:ln xmlns:a="http://schemas.openxmlformats.org/drawingml/2006/main" w="9525">
            <a:solidFill>
              <a:srgbClr val="2F6F57"/>
            </a:solidFill>
            <a:prstDash val="solid"/>
          </a:ln>
        </p:spPr>
      </p:sp>
      <p:sp>
        <p:nvSpPr>
          <p:cNvPr id="17" name="step-no-3">
            <a:extLst xmlns:a="http://schemas.openxmlformats.org/drawingml/2006/main">
              <a:ext uri="{FF2B5EF4-FFF2-40B4-BE49-F238E27FC236}">
                <a16:creationId xmlns:a16="http://schemas.microsoft.com/office/drawing/2014/main" id="{85F377D6-D143-4486-B892-5025AE2A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288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step-head-3">
            <a:extLst xmlns:a="http://schemas.openxmlformats.org/drawingml/2006/main">
              <a:ext uri="{FF2B5EF4-FFF2-40B4-BE49-F238E27FC236}">
                <a16:creationId xmlns:a16="http://schemas.microsoft.com/office/drawing/2014/main" id="{BB1B6C68-EDA7-4F73-90B9-11B8C7C2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766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个性化生成</a:t>
            </a:r>
          </a:p>
        </p:txBody>
      </p:sp>
      <p:sp>
        <p:nvSpPr>
          <p:cNvPr id="19" name="step-body-3">
            <a:extLst xmlns:a="http://schemas.openxmlformats.org/drawingml/2006/main">
              <a:ext uri="{FF2B5EF4-FFF2-40B4-BE49-F238E27FC236}">
                <a16:creationId xmlns:a16="http://schemas.microsoft.com/office/drawing/2014/main" id="{7686E2A9-9C36-4517-8F68-899C04D3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48125"/>
            <a:ext cx="2266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DeepSeek 基于已校验草案生成每日主题与建议。</a:t>
            </a:r>
          </a:p>
        </p:txBody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A428A6CE-E876-47D9-9920-E66D3827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智游 Agent · 基于通用智能体的智能旅游助手</a:t>
            </a:r>
          </a:p>
        </p:txBody>
      </p:sp>
    </p:spTree>
    <p:extLst>
      <p:ext uri="{BB962C8B-B14F-4D97-AF65-F5344CB8AC3E}">
        <p14:creationId xmlns:p14="http://schemas.microsoft.com/office/powerpoint/2010/main" val="16495408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5">
            <a:extLst xmlns:a="http://schemas.openxmlformats.org/drawingml/2006/main">
              <a:ext uri="{FF2B5EF4-FFF2-40B4-BE49-F238E27FC236}">
                <a16:creationId xmlns:a16="http://schemas.microsoft.com/office/drawing/2014/main" id="{C0FC64D5-9FA7-4DCB-ACC8-03CA8102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三地数据集把景点实体、知识证据和来源治理统一起来</a:t>
            </a:r>
          </a:p>
        </p:txBody>
      </p:sp>
      <p:sp>
        <p:nvSpPr>
          <p:cNvPr id="2" name="no-5">
            <a:extLst xmlns:a="http://schemas.openxmlformats.org/drawingml/2006/main">
              <a:ext uri="{FF2B5EF4-FFF2-40B4-BE49-F238E27FC236}">
                <a16:creationId xmlns:a16="http://schemas.microsoft.com/office/drawing/2014/main" id="{B265F101-0AD4-46AF-BFCC-BBEA2600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stats-lead">
            <a:extLst xmlns:a="http://schemas.openxmlformats.org/drawingml/2006/main">
              <a:ext uri="{FF2B5EF4-FFF2-40B4-BE49-F238E27FC236}">
                <a16:creationId xmlns:a16="http://schemas.microsoft.com/office/drawing/2014/main" id="{B2DDA273-A733-4D6E-8A0A-7ACBEA3B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RAG 不只用于写介绍：标准化 POI 同步进入路线数据库，因此“检索到的知识”和“参与排程的景点”使用同一事实底座。</a:t>
            </a:r>
          </a:p>
        </p:txBody>
      </p:sp>
      <p:sp>
        <p:nvSpPr>
          <p:cNvPr id="4" name="stat-bg-0">
            <a:extLst xmlns:a="http://schemas.openxmlformats.org/drawingml/2006/main">
              <a:ext uri="{FF2B5EF4-FFF2-40B4-BE49-F238E27FC236}">
                <a16:creationId xmlns:a16="http://schemas.microsoft.com/office/drawing/2014/main" id="{3AC1D436-365E-43A0-B63C-5978F7FE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562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t-num-0">
            <a:extLst xmlns:a="http://schemas.openxmlformats.org/drawingml/2006/main">
              <a:ext uri="{FF2B5EF4-FFF2-40B4-BE49-F238E27FC236}">
                <a16:creationId xmlns:a16="http://schemas.microsoft.com/office/drawing/2014/main" id="{E4F2C96B-8704-47D7-9B11-5FEBE51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6" name="stat-title-0">
            <a:extLst xmlns:a="http://schemas.openxmlformats.org/drawingml/2006/main">
              <a:ext uri="{FF2B5EF4-FFF2-40B4-BE49-F238E27FC236}">
                <a16:creationId xmlns:a16="http://schemas.microsoft.com/office/drawing/2014/main" id="{7F354E95-B686-47B5-85DB-A5B7580F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291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覆盖城市</a:t>
            </a:r>
          </a:p>
        </p:txBody>
      </p:sp>
      <p:sp>
        <p:nvSpPr>
          <p:cNvPr id="7" name="stat-body-0">
            <a:extLst xmlns:a="http://schemas.openxmlformats.org/drawingml/2006/main">
              <a:ext uri="{FF2B5EF4-FFF2-40B4-BE49-F238E27FC236}">
                <a16:creationId xmlns:a16="http://schemas.microsoft.com/office/drawing/2014/main" id="{C4D53D2B-440B-46BD-AB24-399A364F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南京 · 北京 · 杭州</a:t>
            </a:r>
          </a:p>
        </p:txBody>
      </p:sp>
      <p:sp>
        <p:nvSpPr>
          <p:cNvPr id="8" name="stat-bg-1">
            <a:extLst xmlns:a="http://schemas.openxmlformats.org/drawingml/2006/main">
              <a:ext uri="{FF2B5EF4-FFF2-40B4-BE49-F238E27FC236}">
                <a16:creationId xmlns:a16="http://schemas.microsoft.com/office/drawing/2014/main" id="{48F0D3C2-FD94-4FF1-B311-E3291434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57500"/>
            <a:ext cx="3562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t-num-1">
            <a:extLst xmlns:a="http://schemas.openxmlformats.org/drawingml/2006/main">
              <a:ext uri="{FF2B5EF4-FFF2-40B4-BE49-F238E27FC236}">
                <a16:creationId xmlns:a16="http://schemas.microsoft.com/office/drawing/2014/main" id="{8211110E-8CDA-4F37-B507-F3F2DC95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23850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75</a:t>
            </a:r>
          </a:p>
        </p:txBody>
      </p:sp>
      <p:sp>
        <p:nvSpPr>
          <p:cNvPr id="10" name="stat-title-1">
            <a:extLst xmlns:a="http://schemas.openxmlformats.org/drawingml/2006/main">
              <a:ext uri="{FF2B5EF4-FFF2-40B4-BE49-F238E27FC236}">
                <a16:creationId xmlns:a16="http://schemas.microsoft.com/office/drawing/2014/main" id="{B0B54805-8CA4-45FE-AB13-F51DC010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4291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标准化 POI</a:t>
            </a:r>
          </a:p>
        </p:txBody>
      </p:sp>
      <p:sp>
        <p:nvSpPr>
          <p:cNvPr id="11" name="stat-body-1">
            <a:extLst xmlns:a="http://schemas.openxmlformats.org/drawingml/2006/main">
              <a:ext uri="{FF2B5EF4-FFF2-40B4-BE49-F238E27FC236}">
                <a16:creationId xmlns:a16="http://schemas.microsoft.com/office/drawing/2014/main" id="{ED9D438D-F8C0-494F-8302-0B298AF3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0482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南京 30 / 北京 30 / 杭州 15</a:t>
            </a:r>
          </a:p>
        </p:txBody>
      </p:sp>
      <p:sp>
        <p:nvSpPr>
          <p:cNvPr id="12" name="stat-bg-2">
            <a:extLst xmlns:a="http://schemas.openxmlformats.org/drawingml/2006/main">
              <a:ext uri="{FF2B5EF4-FFF2-40B4-BE49-F238E27FC236}">
                <a16:creationId xmlns:a16="http://schemas.microsoft.com/office/drawing/2014/main" id="{997882F1-F5B0-4A50-ABE3-BEEC4DED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3562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t-num-2">
            <a:extLst xmlns:a="http://schemas.openxmlformats.org/drawingml/2006/main">
              <a:ext uri="{FF2B5EF4-FFF2-40B4-BE49-F238E27FC236}">
                <a16:creationId xmlns:a16="http://schemas.microsoft.com/office/drawing/2014/main" id="{2A28A69B-9292-44C8-9F14-B5661525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rPr>
              <a:t>298</a:t>
            </a:r>
          </a:p>
        </p:txBody>
      </p:sp>
      <p:sp>
        <p:nvSpPr>
          <p:cNvPr id="14" name="stat-title-2">
            <a:extLst xmlns:a="http://schemas.openxmlformats.org/drawingml/2006/main">
              <a:ext uri="{FF2B5EF4-FFF2-40B4-BE49-F238E27FC236}">
                <a16:creationId xmlns:a16="http://schemas.microsoft.com/office/drawing/2014/main" id="{D25B1CC1-ABCD-4ED2-8E31-ADE0F461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291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可信片段</a:t>
            </a:r>
          </a:p>
        </p:txBody>
      </p:sp>
      <p:sp>
        <p:nvSpPr>
          <p:cNvPr id="15" name="stat-body-2">
            <a:extLst xmlns:a="http://schemas.openxmlformats.org/drawingml/2006/main">
              <a:ext uri="{FF2B5EF4-FFF2-40B4-BE49-F238E27FC236}">
                <a16:creationId xmlns:a16="http://schemas.microsoft.com/office/drawing/2014/main" id="{E6ACBEA6-9B1C-4F46-BE3B-46C17860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482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规则、官方事实与数据治理说明</a:t>
            </a:r>
          </a:p>
        </p:txBody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D66314F2-1B94-492A-AF40-B36B8743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智游 Agent · 基于通用智能体的智能旅游助手</a:t>
            </a:r>
          </a:p>
        </p:txBody>
      </p:sp>
    </p:spTree>
    <p:extLst>
      <p:ext uri="{BB962C8B-B14F-4D97-AF65-F5344CB8AC3E}">
        <p14:creationId xmlns:p14="http://schemas.microsoft.com/office/powerpoint/2010/main" val="18492483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6">
            <a:extLst xmlns:a="http://schemas.openxmlformats.org/drawingml/2006/main">
              <a:ext uri="{FF2B5EF4-FFF2-40B4-BE49-F238E27FC236}">
                <a16:creationId xmlns:a16="http://schemas.microsoft.com/office/drawing/2014/main" id="{4D6C35D1-5C79-48BA-BBF1-2F0F65E9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每条规划依据都能回到具体片段、来源和有效期</a:t>
            </a:r>
          </a:p>
        </p:txBody>
      </p:sp>
      <p:sp>
        <p:nvSpPr>
          <p:cNvPr id="2" name="no-6">
            <a:extLst xmlns:a="http://schemas.openxmlformats.org/drawingml/2006/main">
              <a:ext uri="{FF2B5EF4-FFF2-40B4-BE49-F238E27FC236}">
                <a16:creationId xmlns:a16="http://schemas.microsoft.com/office/drawing/2014/main" id="{73C9BE87-1D3B-45F2-81E6-1AE597E5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rag-copy">
            <a:extLst xmlns:a="http://schemas.openxmlformats.org/drawingml/2006/main">
              <a:ext uri="{FF2B5EF4-FFF2-40B4-BE49-F238E27FC236}">
                <a16:creationId xmlns:a16="http://schemas.microsoft.com/office/drawing/2014/main" id="{EA1EE9E0-F798-4622-BC84-F37A51EA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61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北京示例检索 4 条知识片段，其中八达岭长城规则位于首位。前端保留事实类型、POI 编号与来源复核入口。</a:t>
            </a:r>
          </a:p>
        </p:txBody>
      </p:sp>
      <p:sp>
        <p:nvSpPr>
          <p:cNvPr id="4" name="dot-365">
            <a:extLst xmlns:a="http://schemas.openxmlformats.org/drawingml/2006/main">
              <a:ext uri="{FF2B5EF4-FFF2-40B4-BE49-F238E27FC236}">
                <a16:creationId xmlns:a16="http://schemas.microsoft.com/office/drawing/2014/main" id="{F73388A1-028F-4DBF-A1C4-28B2B400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7D3D"/>
          </a:solidFill>
          <a:ln xmlns:a="http://schemas.openxmlformats.org/drawingml/2006/main" w="9525">
            <a:solidFill>
              <a:srgbClr val="E47D3D"/>
            </a:solidFill>
            <a:prstDash val="solid"/>
          </a:ln>
        </p:spPr>
      </p:sp>
      <p:sp>
        <p:nvSpPr>
          <p:cNvPr id="5" name="bullet-365">
            <a:extLst xmlns:a="http://schemas.openxmlformats.org/drawingml/2006/main">
              <a:ext uri="{FF2B5EF4-FFF2-40B4-BE49-F238E27FC236}">
                <a16:creationId xmlns:a16="http://schemas.microsoft.com/office/drawing/2014/main" id="{83367887-BE30-44A6-B9A5-177CDDA7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69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城市过滤，避免跨城知识污染</a:t>
            </a:r>
          </a:p>
        </p:txBody>
      </p:sp>
      <p:sp>
        <p:nvSpPr>
          <p:cNvPr id="6" name="dot-430">
            <a:extLst xmlns:a="http://schemas.openxmlformats.org/drawingml/2006/main">
              <a:ext uri="{FF2B5EF4-FFF2-40B4-BE49-F238E27FC236}">
                <a16:creationId xmlns:a16="http://schemas.microsoft.com/office/drawing/2014/main" id="{C91464FF-5F93-49BF-BA71-88488A9D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7D3D"/>
          </a:solidFill>
          <a:ln xmlns:a="http://schemas.openxmlformats.org/drawingml/2006/main" w="9525">
            <a:solidFill>
              <a:srgbClr val="E47D3D"/>
            </a:solidFill>
            <a:prstDash val="solid"/>
          </a:ln>
        </p:spPr>
      </p:sp>
      <p:sp>
        <p:nvSpPr>
          <p:cNvPr id="7" name="bullet-430">
            <a:extLst xmlns:a="http://schemas.openxmlformats.org/drawingml/2006/main">
              <a:ext uri="{FF2B5EF4-FFF2-40B4-BE49-F238E27FC236}">
                <a16:creationId xmlns:a16="http://schemas.microsoft.com/office/drawing/2014/main" id="{CE8F7084-F885-46CB-9B59-7A4D31C8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3886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动态公告设置短有效期，过期后降权或排除</a:t>
            </a:r>
          </a:p>
        </p:txBody>
      </p:sp>
      <p:sp>
        <p:nvSpPr>
          <p:cNvPr id="8" name="dot-505">
            <a:extLst xmlns:a="http://schemas.openxmlformats.org/drawingml/2006/main">
              <a:ext uri="{FF2B5EF4-FFF2-40B4-BE49-F238E27FC236}">
                <a16:creationId xmlns:a16="http://schemas.microsoft.com/office/drawing/2014/main" id="{5D07F6EB-D400-49A9-AD80-1583BFF4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7D3D"/>
          </a:solidFill>
          <a:ln xmlns:a="http://schemas.openxmlformats.org/drawingml/2006/main" w="9525">
            <a:solidFill>
              <a:srgbClr val="E47D3D"/>
            </a:solidFill>
            <a:prstDash val="solid"/>
          </a:ln>
        </p:spPr>
      </p:sp>
      <p:sp>
        <p:nvSpPr>
          <p:cNvPr id="9" name="bullet-505">
            <a:extLst xmlns:a="http://schemas.openxmlformats.org/drawingml/2006/main">
              <a:ext uri="{FF2B5EF4-FFF2-40B4-BE49-F238E27FC236}">
                <a16:creationId xmlns:a16="http://schemas.microsoft.com/office/drawing/2014/main" id="{1582ECEC-154F-446A-8139-37506EC7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369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不可信与占位片段不进入有效检索</a:t>
            </a:r>
          </a:p>
        </p:txBody>
      </p:sp>
      <p:sp>
        <p:nvSpPr>
          <p:cNvPr id="10" name="rag-evidence-ui-back">
            <a:extLst xmlns:a="http://schemas.openxmlformats.org/drawingml/2006/main">
              <a:ext uri="{FF2B5EF4-FFF2-40B4-BE49-F238E27FC236}">
                <a16:creationId xmlns:a16="http://schemas.microsoft.com/office/drawing/2014/main" id="{F9DFBF5E-1726-4D91-BF4A-4EFCF17B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171575"/>
            <a:ext cx="7229475" cy="480060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8C1BC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ea9d4acfc43c3"/>
          <a:srcRect xmlns:a="http://schemas.openxmlformats.org/drawingml/2006/main" l="7505" t="0" r="75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19625" y="1190625"/>
            <a:ext cx="7191375" cy="4762500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B9E896EA-8D79-4AFC-ABEF-0B8F54E6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智游 Agent · 基于通用智能体的智能旅游助手</a:t>
            </a:r>
          </a:p>
        </p:txBody>
      </p:sp>
    </p:spTree>
    <p:extLst>
      <p:ext uri="{BB962C8B-B14F-4D97-AF65-F5344CB8AC3E}">
        <p14:creationId xmlns:p14="http://schemas.microsoft.com/office/powerpoint/2010/main" val="230500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7">
            <a:extLst xmlns:a="http://schemas.openxmlformats.org/drawingml/2006/main">
              <a:ext uri="{FF2B5EF4-FFF2-40B4-BE49-F238E27FC236}">
                <a16:creationId xmlns:a16="http://schemas.microsoft.com/office/drawing/2014/main" id="{018B00CF-8BC2-4205-8E22-787139EB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模型负责理解，约束引擎负责兑现</a:t>
            </a:r>
          </a:p>
        </p:txBody>
      </p:sp>
      <p:sp>
        <p:nvSpPr>
          <p:cNvPr id="2" name="no-7">
            <a:extLst xmlns:a="http://schemas.openxmlformats.org/drawingml/2006/main">
              <a:ext uri="{FF2B5EF4-FFF2-40B4-BE49-F238E27FC236}">
                <a16:creationId xmlns:a16="http://schemas.microsoft.com/office/drawing/2014/main" id="{F8BE8FCF-CFFD-4BDA-9331-D2CA46DA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constraint-lead">
            <a:extLst xmlns:a="http://schemas.openxmlformats.org/drawingml/2006/main">
              <a:ext uri="{FF2B5EF4-FFF2-40B4-BE49-F238E27FC236}">
                <a16:creationId xmlns:a16="http://schemas.microsoft.com/office/drawing/2014/main" id="{360837D6-8FF5-49C2-8D63-7BF79401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“第一天去八达岭长城”先被抽取为结构化约束，再由本地 POI 名称与别名二次确认；即使模型不可用，也不会丢失明确地点。</a:t>
            </a:r>
          </a:p>
        </p:txBody>
      </p:sp>
      <p:sp>
        <p:nvSpPr>
          <p:cNvPr id="4" name="constraint-bg-0">
            <a:extLst xmlns:a="http://schemas.openxmlformats.org/drawingml/2006/main">
              <a:ext uri="{FF2B5EF4-FFF2-40B4-BE49-F238E27FC236}">
                <a16:creationId xmlns:a16="http://schemas.microsoft.com/office/drawing/2014/main" id="{A82B19CF-778F-4CBB-8065-24091C99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5524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B8C1BC"/>
            </a:solidFill>
            <a:prstDash val="solid"/>
          </a:ln>
        </p:spPr>
      </p:sp>
      <p:sp>
        <p:nvSpPr>
          <p:cNvPr id="5" name="constraint-head-0">
            <a:extLst xmlns:a="http://schemas.openxmlformats.org/drawingml/2006/main">
              <a:ext uri="{FF2B5EF4-FFF2-40B4-BE49-F238E27FC236}">
                <a16:creationId xmlns:a16="http://schemas.microsoft.com/office/drawing/2014/main" id="{09B7DF7D-733B-44E2-96AB-FAA88E57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rPr>
              <a:t>识别</a:t>
            </a:r>
          </a:p>
        </p:txBody>
      </p:sp>
      <p:sp>
        <p:nvSpPr>
          <p:cNvPr id="6" name="constraint-body-0">
            <a:extLst xmlns:a="http://schemas.openxmlformats.org/drawingml/2006/main">
              <a:ext uri="{FF2B5EF4-FFF2-40B4-BE49-F238E27FC236}">
                <a16:creationId xmlns:a16="http://schemas.microsoft.com/office/drawing/2014/main" id="{A9EB83E2-A374-4C09-8D88-774EDB1C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09875"/>
            <a:ext cx="3762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地点 / 第几天 / 全天 / 登山 / 日出 / 起床时间</a:t>
            </a:r>
          </a:p>
        </p:txBody>
      </p:sp>
      <p:sp>
        <p:nvSpPr>
          <p:cNvPr id="7" name="constraint-bg-1">
            <a:extLst xmlns:a="http://schemas.openxmlformats.org/drawingml/2006/main">
              <a:ext uri="{FF2B5EF4-FFF2-40B4-BE49-F238E27FC236}">
                <a16:creationId xmlns:a16="http://schemas.microsoft.com/office/drawing/2014/main" id="{53E5CF2C-80E9-4FA3-8417-9AB96535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19375"/>
            <a:ext cx="5524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B8C1BC"/>
            </a:solidFill>
            <a:prstDash val="solid"/>
          </a:ln>
        </p:spPr>
      </p:sp>
      <p:sp>
        <p:nvSpPr>
          <p:cNvPr id="8" name="constraint-head-1">
            <a:extLst xmlns:a="http://schemas.openxmlformats.org/drawingml/2006/main">
              <a:ext uri="{FF2B5EF4-FFF2-40B4-BE49-F238E27FC236}">
                <a16:creationId xmlns:a16="http://schemas.microsoft.com/office/drawing/2014/main" id="{D15C41FF-9656-4689-933C-7C122498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80987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</p:txBody>
      </p:sp>
      <p:sp>
        <p:nvSpPr>
          <p:cNvPr id="9" name="constraint-body-1">
            <a:extLst xmlns:a="http://schemas.openxmlformats.org/drawingml/2006/main">
              <a:ext uri="{FF2B5EF4-FFF2-40B4-BE49-F238E27FC236}">
                <a16:creationId xmlns:a16="http://schemas.microsoft.com/office/drawing/2014/main" id="{12237436-5713-4295-B047-F612C93C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09875"/>
            <a:ext cx="3762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城市存在、POI 命中、日期不超界、需求是否冲突</a:t>
            </a:r>
          </a:p>
        </p:txBody>
      </p:sp>
      <p:sp>
        <p:nvSpPr>
          <p:cNvPr id="10" name="constraint-bg-2">
            <a:extLst xmlns:a="http://schemas.openxmlformats.org/drawingml/2006/main">
              <a:ext uri="{FF2B5EF4-FFF2-40B4-BE49-F238E27FC236}">
                <a16:creationId xmlns:a16="http://schemas.microsoft.com/office/drawing/2014/main" id="{B8FF8095-C943-4C27-A981-87F46144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5524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B8C1BC"/>
            </a:solidFill>
            <a:prstDash val="solid"/>
          </a:ln>
        </p:spPr>
      </p:sp>
      <p:sp>
        <p:nvSpPr>
          <p:cNvPr id="11" name="constraint-head-2">
            <a:extLst xmlns:a="http://schemas.openxmlformats.org/drawingml/2006/main">
              <a:ext uri="{FF2B5EF4-FFF2-40B4-BE49-F238E27FC236}">
                <a16:creationId xmlns:a16="http://schemas.microsoft.com/office/drawing/2014/main" id="{59C6BB12-C4A5-4187-894A-DBA1E050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2437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47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47D3D"/>
                </a:solidFill>
                <a:latin typeface="Microsoft YaHei"/>
                <a:ea typeface="Microsoft YaHei"/>
                <a:cs typeface="Microsoft YaHei"/>
              </a:rPr>
              <a:t>排程</a:t>
            </a:r>
          </a:p>
        </p:txBody>
      </p:sp>
      <p:sp>
        <p:nvSpPr>
          <p:cNvPr id="12" name="constraint-body-2">
            <a:extLst xmlns:a="http://schemas.openxmlformats.org/drawingml/2006/main">
              <a:ext uri="{FF2B5EF4-FFF2-40B4-BE49-F238E27FC236}">
                <a16:creationId xmlns:a16="http://schemas.microsoft.com/office/drawing/2014/main" id="{F7E797E3-2457-4035-96C0-E2CE377D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24375"/>
            <a:ext cx="3762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每日锚点、同片区选点、时间推进、体力恢复</a:t>
            </a:r>
          </a:p>
        </p:txBody>
      </p:sp>
      <p:sp>
        <p:nvSpPr>
          <p:cNvPr id="13" name="constraint-bg-3">
            <a:extLst xmlns:a="http://schemas.openxmlformats.org/drawingml/2006/main">
              <a:ext uri="{FF2B5EF4-FFF2-40B4-BE49-F238E27FC236}">
                <a16:creationId xmlns:a16="http://schemas.microsoft.com/office/drawing/2014/main" id="{4DB4908C-EF0B-445C-91CC-ACDE90DC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333875"/>
            <a:ext cx="5524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B8C1BC"/>
            </a:solidFill>
            <a:prstDash val="solid"/>
          </a:ln>
        </p:spPr>
      </p:sp>
      <p:sp>
        <p:nvSpPr>
          <p:cNvPr id="14" name="constraint-head-3">
            <a:extLst xmlns:a="http://schemas.openxmlformats.org/drawingml/2006/main">
              <a:ext uri="{FF2B5EF4-FFF2-40B4-BE49-F238E27FC236}">
                <a16:creationId xmlns:a16="http://schemas.microsoft.com/office/drawing/2014/main" id="{14E7C2B9-4224-46AF-B053-D8EE0397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52437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rPr>
              <a:t>复核</a:t>
            </a:r>
          </a:p>
        </p:txBody>
      </p:sp>
      <p:sp>
        <p:nvSpPr>
          <p:cNvPr id="15" name="constraint-body-3">
            <a:extLst xmlns:a="http://schemas.openxmlformats.org/drawingml/2006/main">
              <a:ext uri="{FF2B5EF4-FFF2-40B4-BE49-F238E27FC236}">
                <a16:creationId xmlns:a16="http://schemas.microsoft.com/office/drawing/2014/main" id="{AFDE4094-FBE0-40DD-B5F5-3FC870A2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524375"/>
            <a:ext cx="3762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路线、预算、证据、开放预约提示与异常降级</a:t>
            </a:r>
          </a:p>
        </p:txBody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7C05C174-8082-42FC-9506-8C66239C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智游 Agent · 基于通用智能体的智能旅游助手</a:t>
            </a:r>
          </a:p>
        </p:txBody>
      </p:sp>
    </p:spTree>
    <p:extLst>
      <p:ext uri="{BB962C8B-B14F-4D97-AF65-F5344CB8AC3E}">
        <p14:creationId xmlns:p14="http://schemas.microsoft.com/office/powerpoint/2010/main" val="14211943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8">
            <a:extLst xmlns:a="http://schemas.openxmlformats.org/drawingml/2006/main">
              <a:ext uri="{FF2B5EF4-FFF2-40B4-BE49-F238E27FC236}">
                <a16:creationId xmlns:a16="http://schemas.microsoft.com/office/drawing/2014/main" id="{AB001CED-155C-4060-BFF6-55AF7191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同一次需求生成经济、标准、舒适三套差异化方案</a:t>
            </a:r>
          </a:p>
        </p:txBody>
      </p:sp>
      <p:sp>
        <p:nvSpPr>
          <p:cNvPr id="2" name="no-8">
            <a:extLst xmlns:a="http://schemas.openxmlformats.org/drawingml/2006/main">
              <a:ext uri="{FF2B5EF4-FFF2-40B4-BE49-F238E27FC236}">
                <a16:creationId xmlns:a16="http://schemas.microsoft.com/office/drawing/2014/main" id="{B3BF7339-E702-47BD-9BFB-2886E741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plan-copy">
            <a:extLst xmlns:a="http://schemas.openxmlformats.org/drawingml/2006/main">
              <a:ext uri="{FF2B5EF4-FFF2-40B4-BE49-F238E27FC236}">
                <a16:creationId xmlns:a16="http://schemas.microsoft.com/office/drawing/2014/main" id="{BCABC447-4985-4930-9DDB-4FF19B95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714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预算不是简单乘系数，而是影响住宿、餐饮、交通、景点组合和每日节奏。用户可以比较方案后继续查看按日路线。</a:t>
            </a:r>
          </a:p>
        </p:txBody>
      </p:sp>
      <p:sp>
        <p:nvSpPr>
          <p:cNvPr id="4" name="dot-395">
            <a:extLst xmlns:a="http://schemas.openxmlformats.org/drawingml/2006/main">
              <a:ext uri="{FF2B5EF4-FFF2-40B4-BE49-F238E27FC236}">
                <a16:creationId xmlns:a16="http://schemas.microsoft.com/office/drawing/2014/main" id="{5D6B54B9-5720-4192-8C9A-2D35E477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7D3D"/>
          </a:solidFill>
          <a:ln xmlns:a="http://schemas.openxmlformats.org/drawingml/2006/main" w="9525">
            <a:solidFill>
              <a:srgbClr val="E47D3D"/>
            </a:solidFill>
            <a:prstDash val="solid"/>
          </a:ln>
        </p:spPr>
      </p:sp>
      <p:sp>
        <p:nvSpPr>
          <p:cNvPr id="5" name="bullet-395">
            <a:extLst xmlns:a="http://schemas.openxmlformats.org/drawingml/2006/main">
              <a:ext uri="{FF2B5EF4-FFF2-40B4-BE49-F238E27FC236}">
                <a16:creationId xmlns:a16="http://schemas.microsoft.com/office/drawing/2014/main" id="{DB1B7048-A094-4DEA-A69D-1748909B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350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目标预算：70% / 100% / 130%</a:t>
            </a:r>
          </a:p>
        </p:txBody>
      </p:sp>
      <p:sp>
        <p:nvSpPr>
          <p:cNvPr id="6" name="dot-455">
            <a:extLst xmlns:a="http://schemas.openxmlformats.org/drawingml/2006/main">
              <a:ext uri="{FF2B5EF4-FFF2-40B4-BE49-F238E27FC236}">
                <a16:creationId xmlns:a16="http://schemas.microsoft.com/office/drawing/2014/main" id="{57D5F185-3ADC-4C6F-8F7D-3DBA4A75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7D3D"/>
          </a:solidFill>
          <a:ln xmlns:a="http://schemas.openxmlformats.org/drawingml/2006/main" w="9525">
            <a:solidFill>
              <a:srgbClr val="E47D3D"/>
            </a:solidFill>
            <a:prstDash val="solid"/>
          </a:ln>
        </p:spPr>
      </p:sp>
      <p:sp>
        <p:nvSpPr>
          <p:cNvPr id="7" name="bullet-455">
            <a:extLst xmlns:a="http://schemas.openxmlformats.org/drawingml/2006/main">
              <a:ext uri="{FF2B5EF4-FFF2-40B4-BE49-F238E27FC236}">
                <a16:creationId xmlns:a16="http://schemas.microsoft.com/office/drawing/2014/main" id="{23E1B96B-B891-4446-B412-6851BDB8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350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每档允许约 10% 的合理浮动</a:t>
            </a:r>
          </a:p>
        </p:txBody>
      </p:sp>
      <p:sp>
        <p:nvSpPr>
          <p:cNvPr id="8" name="dot-515">
            <a:extLst xmlns:a="http://schemas.openxmlformats.org/drawingml/2006/main">
              <a:ext uri="{FF2B5EF4-FFF2-40B4-BE49-F238E27FC236}">
                <a16:creationId xmlns:a16="http://schemas.microsoft.com/office/drawing/2014/main" id="{23ED2924-8D1B-40B9-9805-B6AAB5FE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7D3D"/>
          </a:solidFill>
          <a:ln xmlns:a="http://schemas.openxmlformats.org/drawingml/2006/main" w="9525">
            <a:solidFill>
              <a:srgbClr val="E47D3D"/>
            </a:solidFill>
            <a:prstDash val="solid"/>
          </a:ln>
        </p:spPr>
      </p:sp>
      <p:sp>
        <p:nvSpPr>
          <p:cNvPr id="9" name="bullet-515">
            <a:extLst xmlns:a="http://schemas.openxmlformats.org/drawingml/2006/main">
              <a:ext uri="{FF2B5EF4-FFF2-40B4-BE49-F238E27FC236}">
                <a16:creationId xmlns:a16="http://schemas.microsoft.com/office/drawing/2014/main" id="{BF234B0E-03C7-4AA2-B98B-E6B2C2E2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3790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价格缺失时标注估算依据，不伪造实时售价</a:t>
            </a:r>
          </a:p>
        </p:txBody>
      </p:sp>
      <p:sp>
        <p:nvSpPr>
          <p:cNvPr id="10" name="result-ui-back">
            <a:extLst xmlns:a="http://schemas.openxmlformats.org/drawingml/2006/main">
              <a:ext uri="{FF2B5EF4-FFF2-40B4-BE49-F238E27FC236}">
                <a16:creationId xmlns:a16="http://schemas.microsoft.com/office/drawing/2014/main" id="{D455385C-6AD0-4D6A-B6AC-988A71A7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123950"/>
            <a:ext cx="7277100" cy="4848225"/>
          </a:xfrm>
          <a:prstGeom xmlns:a="http://schemas.openxmlformats.org/drawingml/2006/main" prst="roundRect">
            <a:avLst>
              <a:gd name="adj" fmla="val 1572"/>
            </a:avLst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8C1BC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42ee45b8894dbb"/>
          <a:srcRect xmlns:a="http://schemas.openxmlformats.org/drawingml/2006/main" l="7647" t="0" r="76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1143000"/>
            <a:ext cx="7239000" cy="4810125"/>
          </a:xfrm>
          <a:prstGeom xmlns:a="http://schemas.openxmlformats.org/drawingml/2006/main" prst="roundRect">
            <a:avLst>
              <a:gd name="adj" fmla="val 1584"/>
            </a:avLst>
          </a:prstGeom>
        </p:spPr>
      </p:pic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DA2EC1A2-14AE-4E56-8641-6FA9E065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智游 Agent · 基于通用智能体的智能旅游助手</a:t>
            </a:r>
          </a:p>
        </p:txBody>
      </p:sp>
    </p:spTree>
    <p:extLst>
      <p:ext uri="{BB962C8B-B14F-4D97-AF65-F5344CB8AC3E}">
        <p14:creationId xmlns:p14="http://schemas.microsoft.com/office/powerpoint/2010/main" val="19696044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9">
            <a:extLst xmlns:a="http://schemas.openxmlformats.org/drawingml/2006/main">
              <a:ext uri="{FF2B5EF4-FFF2-40B4-BE49-F238E27FC236}">
                <a16:creationId xmlns:a16="http://schemas.microsoft.com/office/drawing/2014/main" id="{5EA26BCB-1DC5-43B8-80E6-6ED91EFC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地图按天拆分，路线与时间线保持同一天上下文</a:t>
            </a:r>
          </a:p>
        </p:txBody>
      </p:sp>
      <p:sp>
        <p:nvSpPr>
          <p:cNvPr id="2" name="no-9">
            <a:extLst xmlns:a="http://schemas.openxmlformats.org/drawingml/2006/main">
              <a:ext uri="{FF2B5EF4-FFF2-40B4-BE49-F238E27FC236}">
                <a16:creationId xmlns:a16="http://schemas.microsoft.com/office/drawing/2014/main" id="{CA5594EB-A564-4747-B713-EFEAF7AA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map-ui-back">
            <a:extLst xmlns:a="http://schemas.openxmlformats.org/drawingml/2006/main">
              <a:ext uri="{FF2B5EF4-FFF2-40B4-BE49-F238E27FC236}">
                <a16:creationId xmlns:a16="http://schemas.microsoft.com/office/drawing/2014/main" id="{21DC0AB8-F23D-4073-8687-5524C3E4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19200"/>
            <a:ext cx="7658100" cy="4514850"/>
          </a:xfrm>
          <a:prstGeom xmlns:a="http://schemas.openxmlformats.org/drawingml/2006/main" prst="roundRect">
            <a:avLst>
              <a:gd name="adj" fmla="val 1688"/>
            </a:avLst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8C1BC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a7eb3e09e434f"/>
          <a:srcRect xmlns:a="http://schemas.openxmlformats.org/drawingml/2006/main" l="2098" t="0" r="20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238250"/>
            <a:ext cx="7620000" cy="4476750"/>
          </a:xfrm>
          <a:prstGeom xmlns:a="http://schemas.openxmlformats.org/drawingml/2006/main" prst="roundRect">
            <a:avLst>
              <a:gd name="adj" fmla="val 1702"/>
            </a:avLst>
          </a:prstGeom>
        </p:spPr>
      </p:pic>
      <p:sp>
        <p:nvSpPr>
          <p:cNvPr id="5" name="map-head">
            <a:extLst xmlns:a="http://schemas.openxmlformats.org/drawingml/2006/main">
              <a:ext uri="{FF2B5EF4-FFF2-40B4-BE49-F238E27FC236}">
                <a16:creationId xmlns:a16="http://schemas.microsoft.com/office/drawing/2014/main" id="{30678B9D-E2F0-4798-8075-1130C84F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192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高德地图不是静态图片</a:t>
            </a:r>
          </a:p>
        </p:txBody>
      </p:sp>
      <p:sp>
        <p:nvSpPr>
          <p:cNvPr id="6" name="dot-300">
            <a:extLst xmlns:a="http://schemas.openxmlformats.org/drawingml/2006/main">
              <a:ext uri="{FF2B5EF4-FFF2-40B4-BE49-F238E27FC236}">
                <a16:creationId xmlns:a16="http://schemas.microsoft.com/office/drawing/2014/main" id="{EFCABAE4-6373-4D38-8692-773A9325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43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7D3D"/>
          </a:solidFill>
          <a:ln xmlns:a="http://schemas.openxmlformats.org/drawingml/2006/main" w="9525">
            <a:solidFill>
              <a:srgbClr val="E47D3D"/>
            </a:solidFill>
            <a:prstDash val="solid"/>
          </a:ln>
        </p:spPr>
      </p:sp>
      <p:sp>
        <p:nvSpPr>
          <p:cNvPr id="7" name="bullet-300">
            <a:extLst xmlns:a="http://schemas.openxmlformats.org/drawingml/2006/main">
              <a:ext uri="{FF2B5EF4-FFF2-40B4-BE49-F238E27FC236}">
                <a16:creationId xmlns:a16="http://schemas.microsoft.com/office/drawing/2014/main" id="{468BA7B2-9C5D-4DAF-A7A0-18AE70A5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857500"/>
            <a:ext cx="2933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切换第 1 / 2 / 3 天，只重绘当日景点和道路</a:t>
            </a:r>
          </a:p>
        </p:txBody>
      </p:sp>
      <p:sp>
        <p:nvSpPr>
          <p:cNvPr id="8" name="dot-390">
            <a:extLst xmlns:a="http://schemas.openxmlformats.org/drawingml/2006/main">
              <a:ext uri="{FF2B5EF4-FFF2-40B4-BE49-F238E27FC236}">
                <a16:creationId xmlns:a16="http://schemas.microsoft.com/office/drawing/2014/main" id="{E33EE8FE-5B2E-4D64-9111-1CCC5903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00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7D3D"/>
          </a:solidFill>
          <a:ln xmlns:a="http://schemas.openxmlformats.org/drawingml/2006/main" w="9525">
            <a:solidFill>
              <a:srgbClr val="E47D3D"/>
            </a:solidFill>
            <a:prstDash val="solid"/>
          </a:ln>
        </p:spPr>
      </p:sp>
      <p:sp>
        <p:nvSpPr>
          <p:cNvPr id="9" name="bullet-390">
            <a:extLst xmlns:a="http://schemas.openxmlformats.org/drawingml/2006/main">
              <a:ext uri="{FF2B5EF4-FFF2-40B4-BE49-F238E27FC236}">
                <a16:creationId xmlns:a16="http://schemas.microsoft.com/office/drawing/2014/main" id="{35D5EC14-7129-4A48-89E2-335ABA34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714750"/>
            <a:ext cx="2933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优先使用步行、公交/地铁或驾车真实路线</a:t>
            </a:r>
          </a:p>
        </p:txBody>
      </p:sp>
      <p:sp>
        <p:nvSpPr>
          <p:cNvPr id="10" name="dot-480">
            <a:extLst xmlns:a="http://schemas.openxmlformats.org/drawingml/2006/main">
              <a:ext uri="{FF2B5EF4-FFF2-40B4-BE49-F238E27FC236}">
                <a16:creationId xmlns:a16="http://schemas.microsoft.com/office/drawing/2014/main" id="{A01BC9EF-A0EE-42D5-BE5E-A76E96FB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57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7D3D"/>
          </a:solidFill>
          <a:ln xmlns:a="http://schemas.openxmlformats.org/drawingml/2006/main" w="9525">
            <a:solidFill>
              <a:srgbClr val="E47D3D"/>
            </a:solidFill>
            <a:prstDash val="solid"/>
          </a:ln>
        </p:spPr>
      </p:sp>
      <p:sp>
        <p:nvSpPr>
          <p:cNvPr id="11" name="bullet-480">
            <a:extLst xmlns:a="http://schemas.openxmlformats.org/drawingml/2006/main">
              <a:ext uri="{FF2B5EF4-FFF2-40B4-BE49-F238E27FC236}">
                <a16:creationId xmlns:a16="http://schemas.microsoft.com/office/drawing/2014/main" id="{369CA6EF-1408-4A4A-9624-D18DD446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572000"/>
            <a:ext cx="2933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调用失败时显示虚线或降级状态，不冒充真实路径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A00736D1-B7C6-49CD-B68F-14EBEEA8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智游 Agent · 基于通用智能体的智能旅游助手</a:t>
            </a:r>
          </a:p>
        </p:txBody>
      </p:sp>
    </p:spTree>
    <p:extLst>
      <p:ext uri="{BB962C8B-B14F-4D97-AF65-F5344CB8AC3E}">
        <p14:creationId xmlns:p14="http://schemas.microsoft.com/office/powerpoint/2010/main" val="15515883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10">
            <a:extLst xmlns:a="http://schemas.openxmlformats.org/drawingml/2006/main">
              <a:ext uri="{FF2B5EF4-FFF2-40B4-BE49-F238E27FC236}">
                <a16:creationId xmlns:a16="http://schemas.microsoft.com/office/drawing/2014/main" id="{C5FC3B9B-51B7-40CF-B0C5-E1D87550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第一天指定八达岭长城，最终时间线明确兑现</a:t>
            </a:r>
          </a:p>
        </p:txBody>
      </p:sp>
      <p:sp>
        <p:nvSpPr>
          <p:cNvPr id="2" name="no-10">
            <a:extLst xmlns:a="http://schemas.openxmlformats.org/drawingml/2006/main">
              <a:ext uri="{FF2B5EF4-FFF2-40B4-BE49-F238E27FC236}">
                <a16:creationId xmlns:a16="http://schemas.microsoft.com/office/drawing/2014/main" id="{9F7A6F25-879A-4283-8F90-CCA61DCD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timeline-copy">
            <a:extLst xmlns:a="http://schemas.openxmlformats.org/drawingml/2006/main">
              <a:ext uri="{FF2B5EF4-FFF2-40B4-BE49-F238E27FC236}">
                <a16:creationId xmlns:a16="http://schemas.microsoft.com/office/drawing/2014/main" id="{4F93842C-289E-4683-A548-ABF6F51F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3714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页面从 07:00 起床开始，连续安排早餐、前往景点、休息、午餐与八达岭游览；费用估算和老人出行提示位于同一日上下文。</a:t>
            </a:r>
          </a:p>
        </p:txBody>
      </p:sp>
      <p:sp>
        <p:nvSpPr>
          <p:cNvPr id="4" name="dot-400">
            <a:extLst xmlns:a="http://schemas.openxmlformats.org/drawingml/2006/main">
              <a:ext uri="{FF2B5EF4-FFF2-40B4-BE49-F238E27FC236}">
                <a16:creationId xmlns:a16="http://schemas.microsoft.com/office/drawing/2014/main" id="{62A8DB66-9883-48DB-B92E-611D2915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95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7D3D"/>
          </a:solidFill>
          <a:ln xmlns:a="http://schemas.openxmlformats.org/drawingml/2006/main" w="9525">
            <a:solidFill>
              <a:srgbClr val="E47D3D"/>
            </a:solidFill>
            <a:prstDash val="solid"/>
          </a:ln>
        </p:spPr>
      </p:sp>
      <p:sp>
        <p:nvSpPr>
          <p:cNvPr id="5" name="bullet-400">
            <a:extLst xmlns:a="http://schemas.openxmlformats.org/drawingml/2006/main">
              <a:ext uri="{FF2B5EF4-FFF2-40B4-BE49-F238E27FC236}">
                <a16:creationId xmlns:a16="http://schemas.microsoft.com/office/drawing/2014/main" id="{73E1DE9C-6E70-49F7-BF0C-CAEF3F11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350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时间点由行程动态推进，不再写死</a:t>
            </a:r>
          </a:p>
        </p:txBody>
      </p:sp>
      <p:sp>
        <p:nvSpPr>
          <p:cNvPr id="6" name="dot-465">
            <a:extLst xmlns:a="http://schemas.openxmlformats.org/drawingml/2006/main">
              <a:ext uri="{FF2B5EF4-FFF2-40B4-BE49-F238E27FC236}">
                <a16:creationId xmlns:a16="http://schemas.microsoft.com/office/drawing/2014/main" id="{A87A1D3D-EE7E-4709-918F-B6E1F61F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7D3D"/>
          </a:solidFill>
          <a:ln xmlns:a="http://schemas.openxmlformats.org/drawingml/2006/main" w="9525">
            <a:solidFill>
              <a:srgbClr val="E47D3D"/>
            </a:solidFill>
            <a:prstDash val="solid"/>
          </a:ln>
        </p:spPr>
      </p:sp>
      <p:sp>
        <p:nvSpPr>
          <p:cNvPr id="7" name="bullet-465">
            <a:extLst xmlns:a="http://schemas.openxmlformats.org/drawingml/2006/main">
              <a:ext uri="{FF2B5EF4-FFF2-40B4-BE49-F238E27FC236}">
                <a16:creationId xmlns:a16="http://schemas.microsoft.com/office/drawing/2014/main" id="{414A39B9-ED03-43D9-85CE-65710C4E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3790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餐饮、住宿、交通与景点共同占用时间预算</a:t>
            </a:r>
          </a:p>
        </p:txBody>
      </p:sp>
      <p:sp>
        <p:nvSpPr>
          <p:cNvPr id="8" name="dot-535">
            <a:extLst xmlns:a="http://schemas.openxmlformats.org/drawingml/2006/main">
              <a:ext uri="{FF2B5EF4-FFF2-40B4-BE49-F238E27FC236}">
                <a16:creationId xmlns:a16="http://schemas.microsoft.com/office/drawing/2014/main" id="{30F38ADA-AA37-4F56-8855-87129DAB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7D3D"/>
          </a:solidFill>
          <a:ln xmlns:a="http://schemas.openxmlformats.org/drawingml/2006/main" w="9525">
            <a:solidFill>
              <a:srgbClr val="E47D3D"/>
            </a:solidFill>
            <a:prstDash val="solid"/>
          </a:ln>
        </p:spPr>
      </p:sp>
      <p:sp>
        <p:nvSpPr>
          <p:cNvPr id="9" name="bullet-535">
            <a:extLst xmlns:a="http://schemas.openxmlformats.org/drawingml/2006/main">
              <a:ext uri="{FF2B5EF4-FFF2-40B4-BE49-F238E27FC236}">
                <a16:creationId xmlns:a16="http://schemas.microsoft.com/office/drawing/2014/main" id="{B70E8CC1-D11B-4B9B-816F-E7D79FA4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350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高强度活动后自动降低次日密度</a:t>
            </a:r>
          </a:p>
        </p:txBody>
      </p:sp>
      <p:sp>
        <p:nvSpPr>
          <p:cNvPr id="10" name="timeline-ui-back">
            <a:extLst xmlns:a="http://schemas.openxmlformats.org/drawingml/2006/main">
              <a:ext uri="{FF2B5EF4-FFF2-40B4-BE49-F238E27FC236}">
                <a16:creationId xmlns:a16="http://schemas.microsoft.com/office/drawing/2014/main" id="{D3183866-E131-4B2A-916C-E6C440BD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076325"/>
            <a:ext cx="7277100" cy="4895850"/>
          </a:xfrm>
          <a:prstGeom xmlns:a="http://schemas.openxmlformats.org/drawingml/2006/main" prst="roundRect">
            <a:avLst>
              <a:gd name="adj" fmla="val 1556"/>
            </a:avLst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8C1BC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34d5a6eb54739"/>
          <a:srcRect xmlns:a="http://schemas.openxmlformats.org/drawingml/2006/main" l="8062" t="0" r="80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1095375"/>
            <a:ext cx="7239000" cy="4857750"/>
          </a:xfrm>
          <a:prstGeom xmlns:a="http://schemas.openxmlformats.org/drawingml/2006/main" prst="roundRect">
            <a:avLst>
              <a:gd name="adj" fmla="val 1569"/>
            </a:avLst>
          </a:prstGeom>
        </p:spPr>
      </p:pic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6FF19B85-904C-4C1B-A9EE-DDE63C98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智游 Agent · 基于通用智能体的智能旅游助手</a:t>
            </a:r>
          </a:p>
        </p:txBody>
      </p:sp>
    </p:spTree>
    <p:extLst>
      <p:ext uri="{BB962C8B-B14F-4D97-AF65-F5344CB8AC3E}">
        <p14:creationId xmlns:p14="http://schemas.microsoft.com/office/powerpoint/2010/main" val="10734625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11">
            <a:extLst xmlns:a="http://schemas.openxmlformats.org/drawingml/2006/main">
              <a:ext uri="{FF2B5EF4-FFF2-40B4-BE49-F238E27FC236}">
                <a16:creationId xmlns:a16="http://schemas.microsoft.com/office/drawing/2014/main" id="{EC8C644B-095D-4A08-941C-9E471AF7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五层架构让模型、地图、知识库和业务规则彼此解耦</a:t>
            </a:r>
          </a:p>
        </p:txBody>
      </p:sp>
      <p:sp>
        <p:nvSpPr>
          <p:cNvPr id="2" name="no-11">
            <a:extLst xmlns:a="http://schemas.openxmlformats.org/drawingml/2006/main">
              <a:ext uri="{FF2B5EF4-FFF2-40B4-BE49-F238E27FC236}">
                <a16:creationId xmlns:a16="http://schemas.microsoft.com/office/drawing/2014/main" id="{61BC66CA-642F-461F-B543-78A64F67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arch-link-0">
            <a:extLst xmlns:a="http://schemas.openxmlformats.org/drawingml/2006/main">
              <a:ext uri="{FF2B5EF4-FFF2-40B4-BE49-F238E27FC236}">
                <a16:creationId xmlns:a16="http://schemas.microsoft.com/office/drawing/2014/main" id="{909ADB91-4E91-4334-BE13-53C59280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2861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1BC"/>
          </a:solidFill>
          <a:ln xmlns:a="http://schemas.openxmlformats.org/drawingml/2006/main" w="9525">
            <a:solidFill>
              <a:srgbClr val="B8C1BC"/>
            </a:solidFill>
            <a:prstDash val="solid"/>
          </a:ln>
        </p:spPr>
      </p:sp>
      <p:sp>
        <p:nvSpPr>
          <p:cNvPr id="4" name="arch-link-1">
            <a:extLst xmlns:a="http://schemas.openxmlformats.org/drawingml/2006/main">
              <a:ext uri="{FF2B5EF4-FFF2-40B4-BE49-F238E27FC236}">
                <a16:creationId xmlns:a16="http://schemas.microsoft.com/office/drawing/2014/main" id="{36C97499-D168-4D71-AB33-315528D7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861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1BC"/>
          </a:solidFill>
          <a:ln xmlns:a="http://schemas.openxmlformats.org/drawingml/2006/main" w="9525">
            <a:solidFill>
              <a:srgbClr val="B8C1BC"/>
            </a:solidFill>
            <a:prstDash val="solid"/>
          </a:ln>
        </p:spPr>
      </p:sp>
      <p:sp>
        <p:nvSpPr>
          <p:cNvPr id="5" name="arch-link-2">
            <a:extLst xmlns:a="http://schemas.openxmlformats.org/drawingml/2006/main">
              <a:ext uri="{FF2B5EF4-FFF2-40B4-BE49-F238E27FC236}">
                <a16:creationId xmlns:a16="http://schemas.microsoft.com/office/drawing/2014/main" id="{FD9A5959-EC30-44C7-842B-83F838E0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861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1BC"/>
          </a:solidFill>
          <a:ln xmlns:a="http://schemas.openxmlformats.org/drawingml/2006/main" w="9525">
            <a:solidFill>
              <a:srgbClr val="B8C1BC"/>
            </a:solidFill>
            <a:prstDash val="solid"/>
          </a:ln>
        </p:spPr>
      </p:sp>
      <p:sp>
        <p:nvSpPr>
          <p:cNvPr id="6" name="arch-link-3">
            <a:extLst xmlns:a="http://schemas.openxmlformats.org/drawingml/2006/main">
              <a:ext uri="{FF2B5EF4-FFF2-40B4-BE49-F238E27FC236}">
                <a16:creationId xmlns:a16="http://schemas.microsoft.com/office/drawing/2014/main" id="{E20A9ABC-7B36-4B5A-9ACA-8ABFAB97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861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1BC"/>
          </a:solidFill>
          <a:ln xmlns:a="http://schemas.openxmlformats.org/drawingml/2006/main" w="9525">
            <a:solidFill>
              <a:srgbClr val="B8C1BC"/>
            </a:solidFill>
            <a:prstDash val="solid"/>
          </a:ln>
        </p:spPr>
      </p:sp>
      <p:sp>
        <p:nvSpPr>
          <p:cNvPr id="7" name="arch-node-0">
            <a:extLst xmlns:a="http://schemas.openxmlformats.org/drawingml/2006/main">
              <a:ext uri="{FF2B5EF4-FFF2-40B4-BE49-F238E27FC236}">
                <a16:creationId xmlns:a16="http://schemas.microsoft.com/office/drawing/2014/main" id="{680065D7-2C72-43D6-B6C8-2731E479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1714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8C1BC"/>
            </a:solidFill>
            <a:prstDash val="solid"/>
          </a:ln>
        </p:spPr>
      </p:sp>
      <p:sp>
        <p:nvSpPr>
          <p:cNvPr id="8" name="arch-head-0">
            <a:extLst xmlns:a="http://schemas.openxmlformats.org/drawingml/2006/main">
              <a:ext uri="{FF2B5EF4-FFF2-40B4-BE49-F238E27FC236}">
                <a16:creationId xmlns:a16="http://schemas.microsoft.com/office/drawing/2014/main" id="{6ADA73B4-F35B-4635-ACDF-BF30E3A2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146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交互层</a:t>
            </a:r>
          </a:p>
        </p:txBody>
      </p:sp>
      <p:sp>
        <p:nvSpPr>
          <p:cNvPr id="9" name="arch-body-0">
            <a:extLst xmlns:a="http://schemas.openxmlformats.org/drawingml/2006/main">
              <a:ext uri="{FF2B5EF4-FFF2-40B4-BE49-F238E27FC236}">
                <a16:creationId xmlns:a16="http://schemas.microsoft.com/office/drawing/2014/main" id="{23D03C6E-C2BE-41C3-84B2-5F163238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81375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Vue 3</a:t>
            </a:r>
          </a:p>
          <a:p xmlns:a="http://schemas.openxmlformats.org/drawingml/2006/main">
            <a:pPr algn="ctr">
              <a:defRPr sz="12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表单 · 地图 · 时间线</a:t>
            </a:r>
          </a:p>
        </p:txBody>
      </p:sp>
      <p:sp>
        <p:nvSpPr>
          <p:cNvPr id="10" name="arch-node-1">
            <a:extLst xmlns:a="http://schemas.openxmlformats.org/drawingml/2006/main">
              <a:ext uri="{FF2B5EF4-FFF2-40B4-BE49-F238E27FC236}">
                <a16:creationId xmlns:a16="http://schemas.microsoft.com/office/drawing/2014/main" id="{D1B91440-1D57-40FA-85BB-EB4FEAC9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6500"/>
            <a:ext cx="1714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A"/>
          </a:solidFill>
          <a:ln xmlns:a="http://schemas.openxmlformats.org/drawingml/2006/main" w="9525">
            <a:solidFill>
              <a:srgbClr val="B8C1BC"/>
            </a:solidFill>
            <a:prstDash val="solid"/>
          </a:ln>
        </p:spPr>
      </p:sp>
      <p:sp>
        <p:nvSpPr>
          <p:cNvPr id="11" name="arch-head-1">
            <a:extLst xmlns:a="http://schemas.openxmlformats.org/drawingml/2006/main">
              <a:ext uri="{FF2B5EF4-FFF2-40B4-BE49-F238E27FC236}">
                <a16:creationId xmlns:a16="http://schemas.microsoft.com/office/drawing/2014/main" id="{724E4544-6B11-4688-B1BC-123BA793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146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rPr>
              <a:t>业务层</a:t>
            </a:r>
          </a:p>
        </p:txBody>
      </p:sp>
      <p:sp>
        <p:nvSpPr>
          <p:cNvPr id="12" name="arch-body-1">
            <a:extLst xmlns:a="http://schemas.openxmlformats.org/drawingml/2006/main">
              <a:ext uri="{FF2B5EF4-FFF2-40B4-BE49-F238E27FC236}">
                <a16:creationId xmlns:a16="http://schemas.microsoft.com/office/drawing/2014/main" id="{0C326542-1680-432A-B1B2-1FB07462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81375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Spring Boot</a:t>
            </a:r>
          </a:p>
          <a:p xmlns:a="http://schemas.openxmlformats.org/drawingml/2006/main">
            <a:pPr algn="ctr">
              <a:defRPr sz="12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约束 · 预算 · 历史</a:t>
            </a:r>
          </a:p>
        </p:txBody>
      </p:sp>
      <p:sp>
        <p:nvSpPr>
          <p:cNvPr id="13" name="arch-node-2">
            <a:extLst xmlns:a="http://schemas.openxmlformats.org/drawingml/2006/main">
              <a:ext uri="{FF2B5EF4-FFF2-40B4-BE49-F238E27FC236}">
                <a16:creationId xmlns:a16="http://schemas.microsoft.com/office/drawing/2014/main" id="{5AF0F148-2A5C-48A7-876B-DE444922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76500"/>
            <a:ext cx="1714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8C1BC"/>
            </a:solidFill>
            <a:prstDash val="solid"/>
          </a:ln>
        </p:spPr>
      </p:sp>
      <p:sp>
        <p:nvSpPr>
          <p:cNvPr id="14" name="arch-head-2">
            <a:extLst xmlns:a="http://schemas.openxmlformats.org/drawingml/2006/main">
              <a:ext uri="{FF2B5EF4-FFF2-40B4-BE49-F238E27FC236}">
                <a16:creationId xmlns:a16="http://schemas.microsoft.com/office/drawing/2014/main" id="{E0E2FE74-4197-4D6D-8E0C-5B87AC8B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7146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知识层</a:t>
            </a:r>
          </a:p>
        </p:txBody>
      </p:sp>
      <p:sp>
        <p:nvSpPr>
          <p:cNvPr id="15" name="arch-body-2">
            <a:extLst xmlns:a="http://schemas.openxmlformats.org/drawingml/2006/main">
              <a:ext uri="{FF2B5EF4-FFF2-40B4-BE49-F238E27FC236}">
                <a16:creationId xmlns:a16="http://schemas.microsoft.com/office/drawing/2014/main" id="{011C550F-FC1C-41B6-AD45-8B7A1135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381375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FastAPI + ChromaDB</a:t>
            </a:r>
          </a:p>
          <a:p xmlns:a="http://schemas.openxmlformats.org/drawingml/2006/main">
            <a:pPr algn="ctr">
              <a:defRPr sz="12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检索 · 过滤 · 排序</a:t>
            </a:r>
          </a:p>
        </p:txBody>
      </p:sp>
      <p:sp>
        <p:nvSpPr>
          <p:cNvPr id="16" name="arch-node-3">
            <a:extLst xmlns:a="http://schemas.openxmlformats.org/drawingml/2006/main">
              <a:ext uri="{FF2B5EF4-FFF2-40B4-BE49-F238E27FC236}">
                <a16:creationId xmlns:a16="http://schemas.microsoft.com/office/drawing/2014/main" id="{67C29BC4-3963-4A35-A88A-91F28EE6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1714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8C1BC"/>
            </a:solidFill>
            <a:prstDash val="solid"/>
          </a:ln>
        </p:spPr>
      </p:sp>
      <p:sp>
        <p:nvSpPr>
          <p:cNvPr id="17" name="arch-head-3">
            <a:extLst xmlns:a="http://schemas.openxmlformats.org/drawingml/2006/main">
              <a:ext uri="{FF2B5EF4-FFF2-40B4-BE49-F238E27FC236}">
                <a16:creationId xmlns:a16="http://schemas.microsoft.com/office/drawing/2014/main" id="{39C3011E-48E5-4210-8F7F-6CE44AFF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146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18" name="arch-body-3">
            <a:extLst xmlns:a="http://schemas.openxmlformats.org/drawingml/2006/main">
              <a:ext uri="{FF2B5EF4-FFF2-40B4-BE49-F238E27FC236}">
                <a16:creationId xmlns:a16="http://schemas.microsoft.com/office/drawing/2014/main" id="{41C6F8AC-CAE4-421C-89E3-1C99C114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81375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MySQL / H2 + JSONL</a:t>
            </a:r>
          </a:p>
          <a:p xmlns:a="http://schemas.openxmlformats.org/drawingml/2006/main">
            <a:pPr algn="ctr">
              <a:defRPr sz="12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POI · 来源 · 快照</a:t>
            </a:r>
          </a:p>
        </p:txBody>
      </p:sp>
      <p:sp>
        <p:nvSpPr>
          <p:cNvPr id="19" name="arch-node-4">
            <a:extLst xmlns:a="http://schemas.openxmlformats.org/drawingml/2006/main">
              <a:ext uri="{FF2B5EF4-FFF2-40B4-BE49-F238E27FC236}">
                <a16:creationId xmlns:a16="http://schemas.microsoft.com/office/drawing/2014/main" id="{DEA86B58-0F3E-45E2-AF2E-2084B2C9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476500"/>
            <a:ext cx="1714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8C1BC"/>
            </a:solidFill>
            <a:prstDash val="solid"/>
          </a:ln>
        </p:spPr>
      </p:sp>
      <p:sp>
        <p:nvSpPr>
          <p:cNvPr id="20" name="arch-head-4">
            <a:extLst xmlns:a="http://schemas.openxmlformats.org/drawingml/2006/main">
              <a:ext uri="{FF2B5EF4-FFF2-40B4-BE49-F238E27FC236}">
                <a16:creationId xmlns:a16="http://schemas.microsoft.com/office/drawing/2014/main" id="{8FAC101D-A346-4EBD-9D9E-BCA16A7A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7146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能力层</a:t>
            </a:r>
          </a:p>
        </p:txBody>
      </p:sp>
      <p:sp>
        <p:nvSpPr>
          <p:cNvPr id="21" name="arch-body-4">
            <a:extLst xmlns:a="http://schemas.openxmlformats.org/drawingml/2006/main">
              <a:ext uri="{FF2B5EF4-FFF2-40B4-BE49-F238E27FC236}">
                <a16:creationId xmlns:a16="http://schemas.microsoft.com/office/drawing/2014/main" id="{957052C2-5FAB-4904-8A44-F9E8A70E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381375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70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高德 · 百度 · DeepSeek</a:t>
            </a:r>
          </a:p>
          <a:p xmlns:a="http://schemas.openxmlformats.org/drawingml/2006/main">
            <a:pPr algn="ctr">
              <a:defRPr sz="12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路线 · 路况 · 个性化</a:t>
            </a:r>
          </a:p>
        </p:txBody>
      </p:sp>
      <p:sp>
        <p:nvSpPr>
          <p:cNvPr id="22" name="arch-note">
            <a:extLst xmlns:a="http://schemas.openxmlformats.org/drawingml/2006/main">
              <a:ext uri="{FF2B5EF4-FFF2-40B4-BE49-F238E27FC236}">
                <a16:creationId xmlns:a16="http://schemas.microsoft.com/office/drawing/2014/main" id="{29D1124A-26DB-4C92-BB3F-32739958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5300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rPr>
              <a:t>外部服务只提供能力，最终是否进入路线由业务约束决定。</a:t>
            </a:r>
          </a:p>
        </p:txBody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AEEDCCC1-9F73-4581-A92B-F0EBCA4C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智游 Agent · 基于通用智能体的智能旅游助手</a:t>
            </a:r>
          </a:p>
        </p:txBody>
      </p:sp>
    </p:spTree>
    <p:extLst>
      <p:ext uri="{BB962C8B-B14F-4D97-AF65-F5344CB8AC3E}">
        <p14:creationId xmlns:p14="http://schemas.microsoft.com/office/powerpoint/2010/main" val="1232434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2">
            <a:extLst xmlns:a="http://schemas.openxmlformats.org/drawingml/2006/main">
              <a:ext uri="{FF2B5EF4-FFF2-40B4-BE49-F238E27FC236}">
                <a16:creationId xmlns:a16="http://schemas.microsoft.com/office/drawing/2014/main" id="{41310CA0-0D21-4E31-A472-5A117264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创新点落在工程闭环，而不是只调用一次大模型</a:t>
            </a:r>
          </a:p>
        </p:txBody>
      </p:sp>
      <p:sp>
        <p:nvSpPr>
          <p:cNvPr id="2" name="no-12">
            <a:extLst xmlns:a="http://schemas.openxmlformats.org/drawingml/2006/main">
              <a:ext uri="{FF2B5EF4-FFF2-40B4-BE49-F238E27FC236}">
                <a16:creationId xmlns:a16="http://schemas.microsoft.com/office/drawing/2014/main" id="{55C756E9-8EFD-4485-A53C-3C4D62F1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innov-bg-0">
            <a:extLst xmlns:a="http://schemas.openxmlformats.org/drawingml/2006/main">
              <a:ext uri="{FF2B5EF4-FFF2-40B4-BE49-F238E27FC236}">
                <a16:creationId xmlns:a16="http://schemas.microsoft.com/office/drawing/2014/main" id="{AB807E95-D387-4E3C-AF2E-F75A4B0D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35623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innov-stat-0">
            <a:extLst xmlns:a="http://schemas.openxmlformats.org/drawingml/2006/main">
              <a:ext uri="{FF2B5EF4-FFF2-40B4-BE49-F238E27FC236}">
                <a16:creationId xmlns:a16="http://schemas.microsoft.com/office/drawing/2014/main" id="{9A0C6181-4422-4771-AC86-44015783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3028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rPr>
              <a:t>同源</a:t>
            </a:r>
          </a:p>
        </p:txBody>
      </p:sp>
      <p:sp>
        <p:nvSpPr>
          <p:cNvPr id="5" name="innov-head-0">
            <a:extLst xmlns:a="http://schemas.openxmlformats.org/drawingml/2006/main">
              <a:ext uri="{FF2B5EF4-FFF2-40B4-BE49-F238E27FC236}">
                <a16:creationId xmlns:a16="http://schemas.microsoft.com/office/drawing/2014/main" id="{9C0BB2D5-37AA-478A-B1FF-94819A5C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302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RAG 与路线共享 POI</a:t>
            </a:r>
          </a:p>
        </p:txBody>
      </p:sp>
      <p:sp>
        <p:nvSpPr>
          <p:cNvPr id="6" name="innov-body-0">
            <a:extLst xmlns:a="http://schemas.openxmlformats.org/drawingml/2006/main">
              <a:ext uri="{FF2B5EF4-FFF2-40B4-BE49-F238E27FC236}">
                <a16:creationId xmlns:a16="http://schemas.microsoft.com/office/drawing/2014/main" id="{C09B1640-9479-4196-8299-0448C025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3028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知识不会停留在介绍层</a:t>
            </a:r>
          </a:p>
        </p:txBody>
      </p:sp>
      <p:sp>
        <p:nvSpPr>
          <p:cNvPr id="7" name="innov-bg-1">
            <a:extLst xmlns:a="http://schemas.openxmlformats.org/drawingml/2006/main">
              <a:ext uri="{FF2B5EF4-FFF2-40B4-BE49-F238E27FC236}">
                <a16:creationId xmlns:a16="http://schemas.microsoft.com/office/drawing/2014/main" id="{5C1B191E-577E-44FE-A1B9-245EFF73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286000"/>
            <a:ext cx="35623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nnov-stat-1">
            <a:extLst xmlns:a="http://schemas.openxmlformats.org/drawingml/2006/main">
              <a:ext uri="{FF2B5EF4-FFF2-40B4-BE49-F238E27FC236}">
                <a16:creationId xmlns:a16="http://schemas.microsoft.com/office/drawing/2014/main" id="{98E75CD3-260D-44FC-B397-D85FDCFA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714625"/>
            <a:ext cx="3028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47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47D3D"/>
                </a:solidFill>
                <a:latin typeface="Microsoft YaHei"/>
                <a:ea typeface="Microsoft YaHei"/>
                <a:cs typeface="Microsoft YaHei"/>
              </a:rPr>
              <a:t>硬约束</a:t>
            </a:r>
          </a:p>
        </p:txBody>
      </p:sp>
      <p:sp>
        <p:nvSpPr>
          <p:cNvPr id="9" name="innov-head-1">
            <a:extLst xmlns:a="http://schemas.openxmlformats.org/drawingml/2006/main">
              <a:ext uri="{FF2B5EF4-FFF2-40B4-BE49-F238E27FC236}">
                <a16:creationId xmlns:a16="http://schemas.microsoft.com/office/drawing/2014/main" id="{15212BFF-AC34-4B34-A4A3-FA2B4309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714750"/>
            <a:ext cx="302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明确地点与日期必须兑现</a:t>
            </a:r>
          </a:p>
        </p:txBody>
      </p:sp>
      <p:sp>
        <p:nvSpPr>
          <p:cNvPr id="10" name="innov-body-1">
            <a:extLst xmlns:a="http://schemas.openxmlformats.org/drawingml/2006/main">
              <a:ext uri="{FF2B5EF4-FFF2-40B4-BE49-F238E27FC236}">
                <a16:creationId xmlns:a16="http://schemas.microsoft.com/office/drawing/2014/main" id="{0F609556-6F1B-40CE-9F90-272F5DB6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524375"/>
            <a:ext cx="3028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模型异常仍可执行</a:t>
            </a:r>
          </a:p>
        </p:txBody>
      </p:sp>
      <p:sp>
        <p:nvSpPr>
          <p:cNvPr id="11" name="innov-bg-2">
            <a:extLst xmlns:a="http://schemas.openxmlformats.org/drawingml/2006/main">
              <a:ext uri="{FF2B5EF4-FFF2-40B4-BE49-F238E27FC236}">
                <a16:creationId xmlns:a16="http://schemas.microsoft.com/office/drawing/2014/main" id="{E1E93E37-DA3B-4F46-9B25-C33CB912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5623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nnov-stat-2">
            <a:extLst xmlns:a="http://schemas.openxmlformats.org/drawingml/2006/main">
              <a:ext uri="{FF2B5EF4-FFF2-40B4-BE49-F238E27FC236}">
                <a16:creationId xmlns:a16="http://schemas.microsoft.com/office/drawing/2014/main" id="{A594A2AE-F139-4A1B-8703-9D10C84B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14625"/>
            <a:ext cx="3028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13" name="innov-head-2">
            <a:extLst xmlns:a="http://schemas.openxmlformats.org/drawingml/2006/main">
              <a:ext uri="{FF2B5EF4-FFF2-40B4-BE49-F238E27FC236}">
                <a16:creationId xmlns:a16="http://schemas.microsoft.com/office/drawing/2014/main" id="{7325B92C-AF18-4ABE-B6A0-1778BD2C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14750"/>
            <a:ext cx="302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来源、有效期与降级状态可见</a:t>
            </a:r>
          </a:p>
        </p:txBody>
      </p:sp>
      <p:sp>
        <p:nvSpPr>
          <p:cNvPr id="14" name="innov-body-2">
            <a:extLst xmlns:a="http://schemas.openxmlformats.org/drawingml/2006/main">
              <a:ext uri="{FF2B5EF4-FFF2-40B4-BE49-F238E27FC236}">
                <a16:creationId xmlns:a16="http://schemas.microsoft.com/office/drawing/2014/main" id="{0AF5CEAC-75A8-48A8-9BA3-289B99EA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24375"/>
            <a:ext cx="3028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避免把推测当实时事实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98343AAD-E104-419D-BB37-F22260F5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智游 Agent · 基于通用智能体的智能旅游助手</a:t>
            </a:r>
          </a:p>
        </p:txBody>
      </p:sp>
    </p:spTree>
    <p:extLst>
      <p:ext uri="{BB962C8B-B14F-4D97-AF65-F5344CB8AC3E}">
        <p14:creationId xmlns:p14="http://schemas.microsoft.com/office/powerpoint/2010/main" val="9165862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-13">
            <a:extLst xmlns:a="http://schemas.openxmlformats.org/drawingml/2006/main">
              <a:ext uri="{FF2B5EF4-FFF2-40B4-BE49-F238E27FC236}">
                <a16:creationId xmlns:a16="http://schemas.microsoft.com/office/drawing/2014/main" id="{6FF650BF-1DBE-4FC3-96BE-BF3D5675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用真实失败场景验证路线是否更可靠</a:t>
            </a:r>
          </a:p>
        </p:txBody>
      </p:sp>
      <p:sp>
        <p:nvSpPr>
          <p:cNvPr id="2" name="no-13">
            <a:extLst xmlns:a="http://schemas.openxmlformats.org/drawingml/2006/main">
              <a:ext uri="{FF2B5EF4-FFF2-40B4-BE49-F238E27FC236}">
                <a16:creationId xmlns:a16="http://schemas.microsoft.com/office/drawing/2014/main" id="{349D382F-A36B-4002-BB5A-9E7864B6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th1">
            <a:extLst xmlns:a="http://schemas.openxmlformats.org/drawingml/2006/main">
              <a:ext uri="{FF2B5EF4-FFF2-40B4-BE49-F238E27FC236}">
                <a16:creationId xmlns:a16="http://schemas.microsoft.com/office/drawing/2014/main" id="{D278571C-1ACE-416A-8210-41627A4C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测试场景</a:t>
            </a:r>
          </a:p>
        </p:txBody>
      </p:sp>
      <p:sp>
        <p:nvSpPr>
          <p:cNvPr id="4" name="th2">
            <a:extLst xmlns:a="http://schemas.openxmlformats.org/drawingml/2006/main">
              <a:ext uri="{FF2B5EF4-FFF2-40B4-BE49-F238E27FC236}">
                <a16:creationId xmlns:a16="http://schemas.microsoft.com/office/drawing/2014/main" id="{C561E732-F2BF-4278-B71C-12AC39F6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71625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验收标准</a:t>
            </a:r>
          </a:p>
        </p:txBody>
      </p:sp>
      <p:sp>
        <p:nvSpPr>
          <p:cNvPr id="5" name="th3">
            <a:extLst xmlns:a="http://schemas.openxmlformats.org/drawingml/2006/main">
              <a:ext uri="{FF2B5EF4-FFF2-40B4-BE49-F238E27FC236}">
                <a16:creationId xmlns:a16="http://schemas.microsoft.com/office/drawing/2014/main" id="{555B3714-A6B0-4845-93DE-17D61CDC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716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6" name="rule-205">
            <a:extLst xmlns:a="http://schemas.openxmlformats.org/drawingml/2006/main">
              <a:ext uri="{FF2B5EF4-FFF2-40B4-BE49-F238E27FC236}">
                <a16:creationId xmlns:a16="http://schemas.microsoft.com/office/drawing/2014/main" id="{F62EADB1-91F2-4E3E-9C07-1546CB49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1BC"/>
          </a:solidFill>
          <a:ln xmlns:a="http://schemas.openxmlformats.org/drawingml/2006/main" w="9525">
            <a:solidFill>
              <a:srgbClr val="B8C1BC"/>
            </a:solidFill>
            <a:prstDash val="solid"/>
          </a:ln>
        </p:spPr>
      </p:sp>
      <p:sp>
        <p:nvSpPr>
          <p:cNvPr id="7" name="tr-a-0">
            <a:extLst xmlns:a="http://schemas.openxmlformats.org/drawingml/2006/main">
              <a:ext uri="{FF2B5EF4-FFF2-40B4-BE49-F238E27FC236}">
                <a16:creationId xmlns:a16="http://schemas.microsoft.com/office/drawing/2014/main" id="{708EB1BA-9DFB-4F13-8D40-6D8D2E92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无效目的地</a:t>
            </a:r>
          </a:p>
        </p:txBody>
      </p:sp>
      <p:sp>
        <p:nvSpPr>
          <p:cNvPr id="8" name="tr-b-0">
            <a:extLst xmlns:a="http://schemas.openxmlformats.org/drawingml/2006/main">
              <a:ext uri="{FF2B5EF4-FFF2-40B4-BE49-F238E27FC236}">
                <a16:creationId xmlns:a16="http://schemas.microsoft.com/office/drawing/2014/main" id="{00A91CD9-B86C-4DC1-93B7-71AB774D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9075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停止规划并提示错误</a:t>
            </a:r>
          </a:p>
        </p:txBody>
      </p:sp>
      <p:sp>
        <p:nvSpPr>
          <p:cNvPr id="9" name="tr-c-0">
            <a:extLst xmlns:a="http://schemas.openxmlformats.org/drawingml/2006/main">
              <a:ext uri="{FF2B5EF4-FFF2-40B4-BE49-F238E27FC236}">
                <a16:creationId xmlns:a16="http://schemas.microsoft.com/office/drawing/2014/main" id="{B1E62F37-A73E-4132-99FC-51CC31B8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10" name="rule-285">
            <a:extLst xmlns:a="http://schemas.openxmlformats.org/drawingml/2006/main">
              <a:ext uri="{FF2B5EF4-FFF2-40B4-BE49-F238E27FC236}">
                <a16:creationId xmlns:a16="http://schemas.microsoft.com/office/drawing/2014/main" id="{059D3950-740E-484B-A292-E4DA796F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B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1" name="tr-a-1">
            <a:extLst xmlns:a="http://schemas.openxmlformats.org/drawingml/2006/main">
              <a:ext uri="{FF2B5EF4-FFF2-40B4-BE49-F238E27FC236}">
                <a16:creationId xmlns:a16="http://schemas.microsoft.com/office/drawing/2014/main" id="{AD18C4CA-E3FC-43A0-99E1-815C5160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第一天去八达岭</a:t>
            </a:r>
          </a:p>
        </p:txBody>
      </p:sp>
      <p:sp>
        <p:nvSpPr>
          <p:cNvPr id="12" name="tr-b-1">
            <a:extLst xmlns:a="http://schemas.openxmlformats.org/drawingml/2006/main">
              <a:ext uri="{FF2B5EF4-FFF2-40B4-BE49-F238E27FC236}">
                <a16:creationId xmlns:a16="http://schemas.microsoft.com/office/drawing/2014/main" id="{C10C8192-A672-4D2B-B335-63472FDB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3370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第 1 天包含八达岭长城</a:t>
            </a:r>
          </a:p>
        </p:txBody>
      </p:sp>
      <p:sp>
        <p:nvSpPr>
          <p:cNvPr id="13" name="tr-c-1">
            <a:extLst xmlns:a="http://schemas.openxmlformats.org/drawingml/2006/main">
              <a:ext uri="{FF2B5EF4-FFF2-40B4-BE49-F238E27FC236}">
                <a16:creationId xmlns:a16="http://schemas.microsoft.com/office/drawing/2014/main" id="{6975C67C-E48D-4B33-A639-614E7511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337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14" name="rule-363">
            <a:extLst xmlns:a="http://schemas.openxmlformats.org/drawingml/2006/main">
              <a:ext uri="{FF2B5EF4-FFF2-40B4-BE49-F238E27FC236}">
                <a16:creationId xmlns:a16="http://schemas.microsoft.com/office/drawing/2014/main" id="{2840CA51-211B-4283-97BA-1138891B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575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B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5" name="tr-a-2">
            <a:extLst xmlns:a="http://schemas.openxmlformats.org/drawingml/2006/main">
              <a:ext uri="{FF2B5EF4-FFF2-40B4-BE49-F238E27FC236}">
                <a16:creationId xmlns:a16="http://schemas.microsoft.com/office/drawing/2014/main" id="{6145C429-5949-4C58-BB63-777CF73F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66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RAG 城市过滤</a:t>
            </a:r>
          </a:p>
        </p:txBody>
      </p:sp>
      <p:sp>
        <p:nvSpPr>
          <p:cNvPr id="16" name="tr-b-2">
            <a:extLst xmlns:a="http://schemas.openxmlformats.org/drawingml/2006/main">
              <a:ext uri="{FF2B5EF4-FFF2-40B4-BE49-F238E27FC236}">
                <a16:creationId xmlns:a16="http://schemas.microsoft.com/office/drawing/2014/main" id="{ADD4EB44-D503-4C63-9726-8AB6CBA2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7665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只返回目标城市片段</a:t>
            </a:r>
          </a:p>
        </p:txBody>
      </p:sp>
      <p:sp>
        <p:nvSpPr>
          <p:cNvPr id="17" name="tr-c-2">
            <a:extLst xmlns:a="http://schemas.openxmlformats.org/drawingml/2006/main">
              <a:ext uri="{FF2B5EF4-FFF2-40B4-BE49-F238E27FC236}">
                <a16:creationId xmlns:a16="http://schemas.microsoft.com/office/drawing/2014/main" id="{35224D72-8C3E-4317-8106-078ED811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766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18" name="rule-441">
            <a:extLst xmlns:a="http://schemas.openxmlformats.org/drawingml/2006/main">
              <a:ext uri="{FF2B5EF4-FFF2-40B4-BE49-F238E27FC236}">
                <a16:creationId xmlns:a16="http://schemas.microsoft.com/office/drawing/2014/main" id="{F0F9C995-ADDF-48C0-BE59-6E29953C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005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B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9" name="tr-a-3">
            <a:extLst xmlns:a="http://schemas.openxmlformats.org/drawingml/2006/main">
              <a:ext uri="{FF2B5EF4-FFF2-40B4-BE49-F238E27FC236}">
                <a16:creationId xmlns:a16="http://schemas.microsoft.com/office/drawing/2014/main" id="{16490B39-91B2-4859-8C02-063DE08F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96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地图服务失败</a:t>
            </a:r>
          </a:p>
        </p:txBody>
      </p:sp>
      <p:sp>
        <p:nvSpPr>
          <p:cNvPr id="20" name="tr-b-3">
            <a:extLst xmlns:a="http://schemas.openxmlformats.org/drawingml/2006/main">
              <a:ext uri="{FF2B5EF4-FFF2-40B4-BE49-F238E27FC236}">
                <a16:creationId xmlns:a16="http://schemas.microsoft.com/office/drawing/2014/main" id="{DEFD11B7-B874-46A7-8D7D-A63DE750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1960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显示估算与降级状态</a:t>
            </a:r>
          </a:p>
        </p:txBody>
      </p:sp>
      <p:sp>
        <p:nvSpPr>
          <p:cNvPr id="21" name="tr-c-3">
            <a:extLst xmlns:a="http://schemas.openxmlformats.org/drawingml/2006/main">
              <a:ext uri="{FF2B5EF4-FFF2-40B4-BE49-F238E27FC236}">
                <a16:creationId xmlns:a16="http://schemas.microsoft.com/office/drawing/2014/main" id="{9F225574-2E27-4829-87E3-31A57B23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196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22" name="rule-519">
            <a:extLst xmlns:a="http://schemas.openxmlformats.org/drawingml/2006/main">
              <a:ext uri="{FF2B5EF4-FFF2-40B4-BE49-F238E27FC236}">
                <a16:creationId xmlns:a16="http://schemas.microsoft.com/office/drawing/2014/main" id="{77A7049D-A5E8-481A-8D52-BED248D1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434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B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3" name="tr-a-4">
            <a:extLst xmlns:a="http://schemas.openxmlformats.org/drawingml/2006/main">
              <a:ext uri="{FF2B5EF4-FFF2-40B4-BE49-F238E27FC236}">
                <a16:creationId xmlns:a16="http://schemas.microsoft.com/office/drawing/2014/main" id="{88FA05B4-8100-4D36-A5D0-523B3A79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625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历史记录</a:t>
            </a:r>
          </a:p>
        </p:txBody>
      </p:sp>
      <p:sp>
        <p:nvSpPr>
          <p:cNvPr id="24" name="tr-b-4">
            <a:extLst xmlns:a="http://schemas.openxmlformats.org/drawingml/2006/main">
              <a:ext uri="{FF2B5EF4-FFF2-40B4-BE49-F238E27FC236}">
                <a16:creationId xmlns:a16="http://schemas.microsoft.com/office/drawing/2014/main" id="{36EEA4B3-09F2-429D-A3FD-ECF094ED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16255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恢复完整计划与依据</a:t>
            </a:r>
          </a:p>
        </p:txBody>
      </p:sp>
      <p:sp>
        <p:nvSpPr>
          <p:cNvPr id="25" name="tr-c-4">
            <a:extLst xmlns:a="http://schemas.openxmlformats.org/drawingml/2006/main">
              <a:ext uri="{FF2B5EF4-FFF2-40B4-BE49-F238E27FC236}">
                <a16:creationId xmlns:a16="http://schemas.microsoft.com/office/drawing/2014/main" id="{6BA080C6-CEE9-4408-AD0D-787C7901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625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26" name="rule-597">
            <a:extLst xmlns:a="http://schemas.openxmlformats.org/drawingml/2006/main">
              <a:ext uri="{FF2B5EF4-FFF2-40B4-BE49-F238E27FC236}">
                <a16:creationId xmlns:a16="http://schemas.microsoft.com/office/drawing/2014/main" id="{7511B404-EE02-46A8-BF84-F99E3E09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86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B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003548E9-5C36-4FE6-A62F-3F61E2F3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智游 Agent · 基于通用智能体的智能旅游助手</a:t>
            </a:r>
          </a:p>
        </p:txBody>
      </p:sp>
    </p:spTree>
    <p:extLst>
      <p:ext uri="{BB962C8B-B14F-4D97-AF65-F5344CB8AC3E}">
        <p14:creationId xmlns:p14="http://schemas.microsoft.com/office/powerpoint/2010/main" val="20678951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itle-14">
            <a:extLst xmlns:a="http://schemas.openxmlformats.org/drawingml/2006/main">
              <a:ext uri="{FF2B5EF4-FFF2-40B4-BE49-F238E27FC236}">
                <a16:creationId xmlns:a16="http://schemas.microsoft.com/office/drawing/2014/main" id="{A45C2921-15BB-48F3-A046-639C6F2B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五人分工围绕同一交付链路协同</a:t>
            </a:r>
          </a:p>
        </p:txBody>
      </p:sp>
      <p:sp>
        <p:nvSpPr>
          <p:cNvPr id="2" name="no-14">
            <a:extLst xmlns:a="http://schemas.openxmlformats.org/drawingml/2006/main">
              <a:ext uri="{FF2B5EF4-FFF2-40B4-BE49-F238E27FC236}">
                <a16:creationId xmlns:a16="http://schemas.microsoft.com/office/drawing/2014/main" id="{F082F9FE-7776-4FE6-9865-AA80B04A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team-index-0">
            <a:extLst xmlns:a="http://schemas.openxmlformats.org/drawingml/2006/main">
              <a:ext uri="{FF2B5EF4-FFF2-40B4-BE49-F238E27FC236}">
                <a16:creationId xmlns:a16="http://schemas.microsoft.com/office/drawing/2014/main" id="{340B52F1-238C-4FAB-9232-5F931E3B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619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am-no-0">
            <a:extLst xmlns:a="http://schemas.openxmlformats.org/drawingml/2006/main">
              <a:ext uri="{FF2B5EF4-FFF2-40B4-BE49-F238E27FC236}">
                <a16:creationId xmlns:a16="http://schemas.microsoft.com/office/drawing/2014/main" id="{FB4C5A9C-0EF6-4BDF-A6A3-C8801D35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am-name-0">
            <a:extLst xmlns:a="http://schemas.openxmlformats.org/drawingml/2006/main">
              <a:ext uri="{FF2B5EF4-FFF2-40B4-BE49-F238E27FC236}">
                <a16:creationId xmlns:a16="http://schemas.microsoft.com/office/drawing/2014/main" id="{C9F73ACA-80A9-4BB3-B263-57EEABEA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192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程鹏</a:t>
            </a:r>
          </a:p>
        </p:txBody>
      </p:sp>
      <p:sp>
        <p:nvSpPr>
          <p:cNvPr id="6" name="team-role-0">
            <a:extLst xmlns:a="http://schemas.openxmlformats.org/drawingml/2006/main">
              <a:ext uri="{FF2B5EF4-FFF2-40B4-BE49-F238E27FC236}">
                <a16:creationId xmlns:a16="http://schemas.microsoft.com/office/drawing/2014/main" id="{B419577F-D52E-45C9-86CD-625575D3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19225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组长 · 总体方案 / 南京数据 / RAG / 后端与联调</a:t>
            </a:r>
          </a:p>
        </p:txBody>
      </p:sp>
      <p:sp>
        <p:nvSpPr>
          <p:cNvPr id="7" name="rule-213">
            <a:extLst xmlns:a="http://schemas.openxmlformats.org/drawingml/2006/main">
              <a:ext uri="{FF2B5EF4-FFF2-40B4-BE49-F238E27FC236}">
                <a16:creationId xmlns:a16="http://schemas.microsoft.com/office/drawing/2014/main" id="{F21BAEC5-3FDD-4482-8881-FCEAEC6A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28825"/>
            <a:ext cx="985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B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8" name="team-index-1">
            <a:extLst xmlns:a="http://schemas.openxmlformats.org/drawingml/2006/main">
              <a:ext uri="{FF2B5EF4-FFF2-40B4-BE49-F238E27FC236}">
                <a16:creationId xmlns:a16="http://schemas.microsoft.com/office/drawing/2014/main" id="{0FBECE5C-BC75-4E06-85AD-E46FCBDA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619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am-no-1">
            <a:extLst xmlns:a="http://schemas.openxmlformats.org/drawingml/2006/main">
              <a:ext uri="{FF2B5EF4-FFF2-40B4-BE49-F238E27FC236}">
                <a16:creationId xmlns:a16="http://schemas.microsoft.com/office/drawing/2014/main" id="{AC6DC44A-EBA4-4C07-8E9B-9DDDC0B6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am-name-1">
            <a:extLst xmlns:a="http://schemas.openxmlformats.org/drawingml/2006/main">
              <a:ext uri="{FF2B5EF4-FFF2-40B4-BE49-F238E27FC236}">
                <a16:creationId xmlns:a16="http://schemas.microsoft.com/office/drawing/2014/main" id="{7DDF0C32-7320-4D2D-8CDD-0EC00E05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431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马骁泽</a:t>
            </a:r>
          </a:p>
        </p:txBody>
      </p:sp>
      <p:sp>
        <p:nvSpPr>
          <p:cNvPr id="11" name="team-role-1">
            <a:extLst xmlns:a="http://schemas.openxmlformats.org/drawingml/2006/main">
              <a:ext uri="{FF2B5EF4-FFF2-40B4-BE49-F238E27FC236}">
                <a16:creationId xmlns:a16="http://schemas.microsoft.com/office/drawing/2014/main" id="{DE676CD7-F85B-4014-9E2E-3E9E9AD3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4315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北京 POI、官方证据、规范化与质量检查</a:t>
            </a:r>
          </a:p>
        </p:txBody>
      </p:sp>
      <p:sp>
        <p:nvSpPr>
          <p:cNvPr id="12" name="rule-310">
            <a:extLst xmlns:a="http://schemas.openxmlformats.org/drawingml/2006/main">
              <a:ext uri="{FF2B5EF4-FFF2-40B4-BE49-F238E27FC236}">
                <a16:creationId xmlns:a16="http://schemas.microsoft.com/office/drawing/2014/main" id="{F17BE107-7B65-40F4-A612-749A7218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52750"/>
            <a:ext cx="985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B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3" name="team-index-2">
            <a:extLst xmlns:a="http://schemas.openxmlformats.org/drawingml/2006/main">
              <a:ext uri="{FF2B5EF4-FFF2-40B4-BE49-F238E27FC236}">
                <a16:creationId xmlns:a16="http://schemas.microsoft.com/office/drawing/2014/main" id="{D0446E4A-740D-4E9F-8C26-E79DC642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28975"/>
            <a:ext cx="619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am-no-2">
            <a:extLst xmlns:a="http://schemas.openxmlformats.org/drawingml/2006/main">
              <a:ext uri="{FF2B5EF4-FFF2-40B4-BE49-F238E27FC236}">
                <a16:creationId xmlns:a16="http://schemas.microsoft.com/office/drawing/2014/main" id="{EB144343-A950-442E-9E18-6460276B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04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am-name-2">
            <a:extLst xmlns:a="http://schemas.openxmlformats.org/drawingml/2006/main">
              <a:ext uri="{FF2B5EF4-FFF2-40B4-BE49-F238E27FC236}">
                <a16:creationId xmlns:a16="http://schemas.microsoft.com/office/drawing/2014/main" id="{05BD23E1-59A7-4A63-BCA6-CD91822A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670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柴正宇</a:t>
            </a:r>
          </a:p>
        </p:txBody>
      </p:sp>
      <p:sp>
        <p:nvSpPr>
          <p:cNvPr id="16" name="team-role-2">
            <a:extLst xmlns:a="http://schemas.openxmlformats.org/drawingml/2006/main">
              <a:ext uri="{FF2B5EF4-FFF2-40B4-BE49-F238E27FC236}">
                <a16:creationId xmlns:a16="http://schemas.microsoft.com/office/drawing/2014/main" id="{7BAD3AA8-BE35-4206-928A-C76BB848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67075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杭州 POI、季节性、预约与开放规则</a:t>
            </a:r>
          </a:p>
        </p:txBody>
      </p:sp>
      <p:sp>
        <p:nvSpPr>
          <p:cNvPr id="17" name="rule-407">
            <a:extLst xmlns:a="http://schemas.openxmlformats.org/drawingml/2006/main">
              <a:ext uri="{FF2B5EF4-FFF2-40B4-BE49-F238E27FC236}">
                <a16:creationId xmlns:a16="http://schemas.microsoft.com/office/drawing/2014/main" id="{E263A5F1-5C11-40C6-95C0-FDFC8516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76675"/>
            <a:ext cx="985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B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8" name="team-index-3">
            <a:extLst xmlns:a="http://schemas.openxmlformats.org/drawingml/2006/main">
              <a:ext uri="{FF2B5EF4-FFF2-40B4-BE49-F238E27FC236}">
                <a16:creationId xmlns:a16="http://schemas.microsoft.com/office/drawing/2014/main" id="{5930443C-15A9-4928-A551-EC0903D0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619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am-no-3">
            <a:extLst xmlns:a="http://schemas.openxmlformats.org/drawingml/2006/main">
              <a:ext uri="{FF2B5EF4-FFF2-40B4-BE49-F238E27FC236}">
                <a16:creationId xmlns:a16="http://schemas.microsoft.com/office/drawing/2014/main" id="{AE6B4700-5B86-413E-BD7F-79E05183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team-name-3">
            <a:extLst xmlns:a="http://schemas.openxmlformats.org/drawingml/2006/main">
              <a:ext uri="{FF2B5EF4-FFF2-40B4-BE49-F238E27FC236}">
                <a16:creationId xmlns:a16="http://schemas.microsoft.com/office/drawing/2014/main" id="{C7D2AFE1-AEDE-4D35-9C6B-B9B3CC47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910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梅佳俊</a:t>
            </a:r>
          </a:p>
        </p:txBody>
      </p:sp>
      <p:sp>
        <p:nvSpPr>
          <p:cNvPr id="21" name="team-role-3">
            <a:extLst xmlns:a="http://schemas.openxmlformats.org/drawingml/2006/main">
              <a:ext uri="{FF2B5EF4-FFF2-40B4-BE49-F238E27FC236}">
                <a16:creationId xmlns:a16="http://schemas.microsoft.com/office/drawing/2014/main" id="{FAC1FCC4-BE50-4ED1-8755-F795F5F3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Vue 3 交互、时间线、地图与多方案展示</a:t>
            </a:r>
          </a:p>
        </p:txBody>
      </p:sp>
      <p:sp>
        <p:nvSpPr>
          <p:cNvPr id="22" name="rule-504">
            <a:extLst xmlns:a="http://schemas.openxmlformats.org/drawingml/2006/main">
              <a:ext uri="{FF2B5EF4-FFF2-40B4-BE49-F238E27FC236}">
                <a16:creationId xmlns:a16="http://schemas.microsoft.com/office/drawing/2014/main" id="{4C8A16C7-F446-48B2-ABD9-3E19BAAB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00600"/>
            <a:ext cx="985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B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3" name="team-index-4">
            <a:extLst xmlns:a="http://schemas.openxmlformats.org/drawingml/2006/main">
              <a:ext uri="{FF2B5EF4-FFF2-40B4-BE49-F238E27FC236}">
                <a16:creationId xmlns:a16="http://schemas.microsoft.com/office/drawing/2014/main" id="{B5C72616-E35B-4198-A524-38751C9C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76825"/>
            <a:ext cx="619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am-no-4">
            <a:extLst xmlns:a="http://schemas.openxmlformats.org/drawingml/2006/main">
              <a:ext uri="{FF2B5EF4-FFF2-40B4-BE49-F238E27FC236}">
                <a16:creationId xmlns:a16="http://schemas.microsoft.com/office/drawing/2014/main" id="{33ECDC2F-3976-4178-B0F1-C9D2561C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482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team-name-4">
            <a:extLst xmlns:a="http://schemas.openxmlformats.org/drawingml/2006/main">
              <a:ext uri="{FF2B5EF4-FFF2-40B4-BE49-F238E27FC236}">
                <a16:creationId xmlns:a16="http://schemas.microsoft.com/office/drawing/2014/main" id="{5C2F0036-3556-42C2-8219-6777F499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149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杨宇韬</a:t>
            </a:r>
          </a:p>
        </p:txBody>
      </p:sp>
      <p:sp>
        <p:nvSpPr>
          <p:cNvPr id="26" name="team-role-4">
            <a:extLst xmlns:a="http://schemas.openxmlformats.org/drawingml/2006/main">
              <a:ext uri="{FF2B5EF4-FFF2-40B4-BE49-F238E27FC236}">
                <a16:creationId xmlns:a16="http://schemas.microsoft.com/office/drawing/2014/main" id="{BA077772-92EC-485F-83B9-479A2CE5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14925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测试、异常验证、演示素材与答辩材料</a:t>
            </a:r>
          </a:p>
        </p:txBody>
      </p:sp>
      <p:sp>
        <p:nvSpPr>
          <p:cNvPr id="27" name="rule-601">
            <a:extLst xmlns:a="http://schemas.openxmlformats.org/drawingml/2006/main">
              <a:ext uri="{FF2B5EF4-FFF2-40B4-BE49-F238E27FC236}">
                <a16:creationId xmlns:a16="http://schemas.microsoft.com/office/drawing/2014/main" id="{BC1BF112-9413-4591-810A-316AE4CA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24525"/>
            <a:ext cx="985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B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8" name="footer">
            <a:extLst xmlns:a="http://schemas.openxmlformats.org/drawingml/2006/main">
              <a:ext uri="{FF2B5EF4-FFF2-40B4-BE49-F238E27FC236}">
                <a16:creationId xmlns:a16="http://schemas.microsoft.com/office/drawing/2014/main" id="{D36F0095-9F0A-47E4-9F06-C0299789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智游 Agent · 基于通用智能体的智能旅游助手</a:t>
            </a:r>
          </a:p>
        </p:txBody>
      </p:sp>
    </p:spTree>
    <p:extLst>
      <p:ext uri="{BB962C8B-B14F-4D97-AF65-F5344CB8AC3E}">
        <p14:creationId xmlns:p14="http://schemas.microsoft.com/office/powerpoint/2010/main" val="10006640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84623B33-BC61-460A-A95C-A065DEEE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rPr>
              <a:t>CONCLUSION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5B3E3042-9164-4F62-85EC-A525BD43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不是随机拼接，</a:t>
            </a:r>
          </a:p>
          <a:p xmlns:a="http://schemas.openxmlformats.org/drawingml/2006/main">
            <a:pPr algn="l">
              <a:defRPr sz="43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11714"/>
                </a:solidFill>
                <a:latin typeface="Microsoft YaHei"/>
                <a:ea typeface="Microsoft YaHei"/>
                <a:cs typeface="Microsoft YaHei"/>
              </a:rPr>
              <a:t>而是有依据的可执行路线</a:t>
            </a:r>
          </a:p>
        </p:txBody>
      </p:sp>
      <p:sp>
        <p:nvSpPr>
          <p:cNvPr id="3" name="close-body">
            <a:extLst xmlns:a="http://schemas.openxmlformats.org/drawingml/2006/main">
              <a:ext uri="{FF2B5EF4-FFF2-40B4-BE49-F238E27FC236}">
                <a16:creationId xmlns:a16="http://schemas.microsoft.com/office/drawing/2014/main" id="{4D5AE0D9-2693-4570-BE51-81F2B335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F6F57"/>
                </a:solidFill>
                <a:latin typeface="Microsoft YaHei"/>
                <a:ea typeface="Microsoft YaHei"/>
                <a:cs typeface="Microsoft YaHei"/>
              </a:rPr>
              <a:t>可信知识检索 × 硬约束规划 × 真实地图路线 × 个性化表达</a:t>
            </a:r>
          </a:p>
        </p:txBody>
      </p:sp>
      <p:sp>
        <p:nvSpPr>
          <p:cNvPr id="4" name="close-next">
            <a:extLst xmlns:a="http://schemas.openxmlformats.org/drawingml/2006/main">
              <a:ext uri="{FF2B5EF4-FFF2-40B4-BE49-F238E27FC236}">
                <a16:creationId xmlns:a16="http://schemas.microsoft.com/office/drawing/2014/main" id="{F013051E-A330-46A6-B5B6-7EEEFDC4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下一步：扩展更多城市、升级中文语义向量、接入授权票务与预约数据</a:t>
            </a:r>
          </a:p>
        </p:txBody>
      </p:sp>
      <p:sp>
        <p:nvSpPr>
          <p:cNvPr id="5" name="close-no">
            <a:extLst xmlns:a="http://schemas.openxmlformats.org/drawingml/2006/main">
              <a:ext uri="{FF2B5EF4-FFF2-40B4-BE49-F238E27FC236}">
                <a16:creationId xmlns:a16="http://schemas.microsoft.com/office/drawing/2014/main" id="{47B265F0-FD64-4E90-9F26-C5EA5DC4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456571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2026-07-18T01:49:16.4780000Z</dcterms:created>
  <dcterms:modified xsi:type="dcterms:W3CDTF">2026-07-18T01:49:16.4780000Z</dcterms:modified>
</coreProperties>
</file>